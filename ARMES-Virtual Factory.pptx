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256" r:id="rId5"/>
    <p:sldId id="260" r:id="rId6"/>
    <p:sldId id="262" r:id="rId7"/>
    <p:sldId id="261" r:id="rId8"/>
    <p:sldId id="258" r:id="rId9"/>
    <p:sldId id="265" r:id="rId10"/>
    <p:sldId id="264" r:id="rId11"/>
    <p:sldId id="263" r:id="rId12"/>
    <p:sldId id="266" r:id="rId13"/>
    <p:sldId id="257" r:id="rId14"/>
    <p:sldId id="259" r:id="rId15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7F"/>
    <a:srgbClr val="0F9ED5"/>
    <a:srgbClr val="156082"/>
    <a:srgbClr val="F6C6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5E437D-9269-4174-B841-FBFD8F67ED0C}" v="26" dt="2025-05-21T12:10:38.9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77"/>
    <p:restoredTop sz="94679"/>
  </p:normalViewPr>
  <p:slideViewPr>
    <p:cSldViewPr snapToGrid="0">
      <p:cViewPr varScale="1">
        <p:scale>
          <a:sx n="104" d="100"/>
          <a:sy n="104" d="100"/>
        </p:scale>
        <p:origin x="80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C615EB-5179-45DC-B34E-7CE8B7BF8F12}" type="datetimeFigureOut">
              <a:rPr lang="tr-TR" smtClean="0"/>
              <a:t>19.08.2025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145A2F-E963-4492-965A-56357FE41D5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12286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304E2-77C4-F631-55D5-5EA7997BA0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584624-5F9B-7301-4E94-142DF99A06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DDC1B-AB4B-267E-9F48-F47FDC85A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632D3-EC32-4957-9753-1566D147E2AE}" type="datetime1">
              <a:rPr lang="tr-TR" smtClean="0"/>
              <a:t>19.08.2025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149A9-6D48-7AB2-4A97-A334B020D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All rights belong to ARDIC.</a:t>
            </a:r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EF87FF-0BC6-D43F-C126-F2B4B34E0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74550-B831-45C5-B633-259031137E2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26601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060C2-D3CF-5571-63AB-E690CD678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388DE-9DD8-E080-123C-068242C14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02CE12-B35D-7F85-4767-1437FCDCD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8493-25C3-42EA-A5F0-25832C54C181}" type="datetime1">
              <a:rPr lang="tr-TR" smtClean="0"/>
              <a:t>19.08.2025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8DA9E4-4E45-2FD0-5E2B-5181BFD04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All rights belong to ARDIC.</a:t>
            </a:r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F0113-FDC4-2B59-A8FE-EF44ED5A0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74550-B831-45C5-B633-259031137E2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43457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47377-DCF1-B453-427D-C4A3E2CA8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913191-2AC5-DE99-165D-74C8CF3628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C1244E-DAB6-D8AE-A87A-F4C7F5B95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287EF-9F58-42DF-8193-4B853D24B407}" type="datetime1">
              <a:rPr lang="tr-TR" smtClean="0"/>
              <a:t>19.08.2025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01B612-94E4-4B21-32A1-FC97B2C7A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All rights belong to ARDIC.</a:t>
            </a:r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B1E35D-C7A7-3A1F-DB7D-494B9EF82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74550-B831-45C5-B633-259031137E2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55784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EC758-90C5-C3DD-1EC9-026C44DAA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3FA09-3374-26DF-6011-6CE37D606A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035442-EEA5-1899-87D7-ACBB924CE0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8AC24C-80F5-10D9-5404-FEE8A222F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9DD7F-AB52-4D59-B629-36066545DFD2}" type="datetime1">
              <a:rPr lang="tr-TR" smtClean="0"/>
              <a:t>19.08.2025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C47914-D83A-44CE-B54F-94B97F152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All rights belong to ARDIC.</a:t>
            </a:r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6EDCC5-ACCE-0579-E1BC-822309108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74550-B831-45C5-B633-259031137E2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08197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3CF57-9CDF-3502-D2AA-708FC231F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5F821E-7E34-B509-BD8A-02BE0BEB8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ACD015-A7C3-DD18-4D54-592CD67E35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A56ED4-6CF5-027F-7B40-BF341AE6AB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DB597B-66E3-6FC1-19D7-EF9DE275CA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45CD45-2029-E589-6027-0E2A5ED79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FD8EE-38F2-4589-81C9-9405E50C37D9}" type="datetime1">
              <a:rPr lang="tr-TR" smtClean="0"/>
              <a:t>19.08.2025</a:t>
            </a:fld>
            <a:endParaRPr lang="tr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F62404-3747-00AC-D24D-35C32075B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All rights belong to ARDIC.</a:t>
            </a:r>
            <a:endParaRPr lang="tr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FB26A0-3B26-A477-7145-20D24CFEC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74550-B831-45C5-B633-259031137E2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37548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5112F-8F95-A987-3D4D-80A432498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6DE018-D957-F3A8-275D-1D149C7BA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B1642-7020-4CFE-B976-BDEBF540CA36}" type="datetime1">
              <a:rPr lang="tr-TR" smtClean="0"/>
              <a:t>19.08.2025</a:t>
            </a:fld>
            <a:endParaRPr lang="tr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48663F-DF62-9F98-8EEA-40300548F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All rights belong to ARDIC.</a:t>
            </a:r>
            <a:endParaRPr lang="tr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683F14-13E1-4620-77B5-74A3BDA46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74550-B831-45C5-B633-259031137E2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66460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ECAD7F-30D6-5AD1-D5BA-F8C6AB010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1AE12-A439-4757-963B-C0E9361405D2}" type="datetime1">
              <a:rPr lang="tr-TR" smtClean="0"/>
              <a:t>19.08.2025</a:t>
            </a:fld>
            <a:endParaRPr lang="tr-T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FBB350-B731-5D7A-D4DF-709F82BF4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All rights belong to ARDIC.</a:t>
            </a:r>
            <a:endParaRPr lang="tr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3CA951-DA01-E7F4-A05F-CBB882728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74550-B831-45C5-B633-259031137E2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58609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F675C-3D67-DF9A-BE05-8027B8778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5750C-B195-70B6-B5A2-86D3D257C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7F92AD-2055-9A9B-D131-2F3861BE51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F7A473-A7A4-9465-241B-E0CB998D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C08A5-7412-4320-8EBA-6C657C50A0FE}" type="datetime1">
              <a:rPr lang="tr-TR" smtClean="0"/>
              <a:t>19.08.2025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45D24F-16E2-7FC5-201D-B7B4956E8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All rights belong to ARDIC.</a:t>
            </a:r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6925DE-4E3C-5A40-E146-A2A641619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74550-B831-45C5-B633-259031137E2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87575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F9B9B-F634-52FB-FFE8-86A8289D3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A76BAE-A99B-EC5C-B657-7A1A0A5BF5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AB3EF9-3CEC-7B10-881B-9FD0984BCA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FC1208-3CB1-F2C1-C722-073078147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CB9C9-5041-4625-ACBB-147C1B10B744}" type="datetime1">
              <a:rPr lang="tr-TR" smtClean="0"/>
              <a:t>19.08.2025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77A830-6F84-858D-3766-26C933DF1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All rights belong to ARDIC.</a:t>
            </a:r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F6AACE-0313-589F-BB8E-5AED57AE1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74550-B831-45C5-B633-259031137E2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18767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0A8CF-C945-9B0D-4B6C-D4CFE4452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D751D2-A6DE-24DC-E3AA-A05EC089A4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8BEB4-F6CF-8BC5-59A2-74512E8F5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A91FA-9559-4A64-AA31-EBA02EDFECE9}" type="datetime1">
              <a:rPr lang="tr-TR" smtClean="0"/>
              <a:t>19.08.2025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8E1B04-5654-378B-A99F-9DA238C16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All rights belong to ARDIC.</a:t>
            </a:r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0649ED-5639-BF34-F350-74561F9B5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74550-B831-45C5-B633-259031137E2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84695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DC1BA2-83E1-8538-7B6F-A81F1CE96A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A69B09-7529-900E-91AD-B726A8F7A2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69FBF-46A1-3842-B4A5-DDD3F1E9C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724-E32C-4FF7-938F-68E94C785449}" type="datetime1">
              <a:rPr lang="tr-TR" smtClean="0"/>
              <a:t>19.08.2025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64D53-127E-C463-1931-1611342D0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All rights belong to ARDIC.</a:t>
            </a:r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CE7D7-9AB1-DD1D-B816-278DCC515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74550-B831-45C5-B633-259031137E2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24296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F34E5D-76FB-B4DF-D28D-456EB8681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217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9144C0-C838-BD66-11F8-19F0C69D57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58779"/>
            <a:ext cx="10515600" cy="5118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352E7A-4F7D-5691-5E78-D8A9F9B417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4D38BB-CFA5-4737-A5CD-3C7C07BAD4EC}" type="datetime1">
              <a:rPr lang="tr-TR" smtClean="0"/>
              <a:t>19.08.2025</a:t>
            </a:fld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7BBFA0-254E-1DD1-C59E-8F1761ACFC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D74550-B831-45C5-B633-259031137E24}" type="slidenum">
              <a:rPr lang="tr-TR" smtClean="0"/>
              <a:t>‹#›</a:t>
            </a:fld>
            <a:endParaRPr lang="tr-TR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A8A6BA3-CB69-B011-B13F-BCD5281A2B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All rights belong to ARDIC.</a:t>
            </a:r>
            <a:endParaRPr lang="tr-TR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CAFA95F-D3B0-2CDB-B7DF-02A8DA92EFB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25" y="97402"/>
            <a:ext cx="369406" cy="37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82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thingspeak.mathworks.com/channels/2057381" TargetMode="External"/><Relationship Id="rId7" Type="http://schemas.openxmlformats.org/officeDocument/2006/relationships/hyperlink" Target="https://aws.amazon.com/marketplace/search/results?FULFILLMENT_OPTION_TYPE=DATA_EXCHANGE&amp;DATA_AVAILABLE_THROUGH=REDSHIFT_DATA_SHARES&amp;filters=FULFILLMENT_OPTION_TYPE%2CDATA_AVAILABLE_THROUGH" TargetMode="External"/><Relationship Id="rId2" Type="http://schemas.openxmlformats.org/officeDocument/2006/relationships/hyperlink" Target="https://thingspeak.mathworks.com/channels/1293177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opendata.cityofnewyork.us/" TargetMode="External"/><Relationship Id="rId5" Type="http://schemas.openxmlformats.org/officeDocument/2006/relationships/hyperlink" Target="https://data.cityofchicago.org/Parks-Recreation/Beach-Weather-Stations-Automated-Sensors-2016-Humi/7edu-s3u7" TargetMode="External"/><Relationship Id="rId4" Type="http://schemas.openxmlformats.org/officeDocument/2006/relationships/hyperlink" Target="https://www.gridstatus.io/live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2337A-857B-2F9C-F48E-6CA16AFA0C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/>
              <a:t>Virtual </a:t>
            </a:r>
            <a:r>
              <a:rPr lang="tr-TR" err="1"/>
              <a:t>Factory</a:t>
            </a:r>
            <a:endParaRPr lang="tr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E8455D-F0F8-3226-8721-96A396293D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/>
              <a:t>ARMES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3FB8B-A1C0-A946-4F19-8A1E9545E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18E8B-FF1C-48B1-A40A-47DDF42D391B}" type="datetime1">
              <a:rPr lang="tr-TR" smtClean="0"/>
              <a:t>19.08.2025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0E176A-D139-A8F6-2B7E-C6449E992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All rights belong to ARDIC.</a:t>
            </a:r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BB5189-DF17-ADD5-C54B-06D0B167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74550-B831-45C5-B633-259031137E24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97410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2FB76-18D5-DDEF-CA84-74A4A0452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Demo high level architecture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2992C-B573-5147-C7C2-87D3A97D1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8493-25C3-42EA-A5F0-25832C54C181}" type="datetime1">
              <a:rPr lang="tr-TR" smtClean="0"/>
              <a:t>19.08.2025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1A9B8C-B9B9-C9CB-8AE4-EE0A64CF4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All rights belong to ARDIC.</a:t>
            </a:r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238A68-5A53-797B-A010-279C3E3E9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74550-B831-45C5-B633-259031137E24}" type="slidenum">
              <a:rPr lang="tr-TR" smtClean="0"/>
              <a:t>2</a:t>
            </a:fld>
            <a:endParaRPr lang="tr-TR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8A1618C-96E3-E765-3ABC-0CDE524DD132}"/>
              </a:ext>
            </a:extLst>
          </p:cNvPr>
          <p:cNvSpPr/>
          <p:nvPr/>
        </p:nvSpPr>
        <p:spPr>
          <a:xfrm>
            <a:off x="3738283" y="3079051"/>
            <a:ext cx="1398494" cy="190948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Ignite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EB82220-6EE8-5D91-7D7C-96E4E592CCA8}"/>
              </a:ext>
            </a:extLst>
          </p:cNvPr>
          <p:cNvSpPr/>
          <p:nvPr/>
        </p:nvSpPr>
        <p:spPr>
          <a:xfrm>
            <a:off x="6463555" y="3079051"/>
            <a:ext cx="1398494" cy="190948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err="1"/>
              <a:t>ArMES</a:t>
            </a:r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877A0A3-CD90-E3F9-D11B-71C8477ABBA0}"/>
              </a:ext>
            </a:extLst>
          </p:cNvPr>
          <p:cNvSpPr/>
          <p:nvPr/>
        </p:nvSpPr>
        <p:spPr>
          <a:xfrm>
            <a:off x="5136777" y="958712"/>
            <a:ext cx="1398494" cy="190948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CWYF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462236AE-B559-8045-A1B6-B9C0AA20EBBF}"/>
              </a:ext>
            </a:extLst>
          </p:cNvPr>
          <p:cNvSpPr/>
          <p:nvPr/>
        </p:nvSpPr>
        <p:spPr>
          <a:xfrm>
            <a:off x="2411506" y="3706393"/>
            <a:ext cx="1326777" cy="6454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8DF6B7-7153-C8FB-74D9-20AC0349108B}"/>
              </a:ext>
            </a:extLst>
          </p:cNvPr>
          <p:cNvSpPr txBox="1"/>
          <p:nvPr/>
        </p:nvSpPr>
        <p:spPr>
          <a:xfrm>
            <a:off x="610836" y="3844456"/>
            <a:ext cx="1584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Machine data </a:t>
            </a: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223A8477-D50F-8681-7F44-72ABDFB3A57F}"/>
              </a:ext>
            </a:extLst>
          </p:cNvPr>
          <p:cNvSpPr/>
          <p:nvPr/>
        </p:nvSpPr>
        <p:spPr>
          <a:xfrm>
            <a:off x="5136777" y="3706392"/>
            <a:ext cx="1326777" cy="6454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D9AE9D-BC62-CE04-DA01-77DFE6FBFB02}"/>
              </a:ext>
            </a:extLst>
          </p:cNvPr>
          <p:cNvSpPr txBox="1"/>
          <p:nvPr/>
        </p:nvSpPr>
        <p:spPr>
          <a:xfrm>
            <a:off x="5136777" y="4380652"/>
            <a:ext cx="12403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Kafka / API</a:t>
            </a:r>
          </a:p>
        </p:txBody>
      </p:sp>
      <p:sp>
        <p:nvSpPr>
          <p:cNvPr id="14" name="Bent Arrow 13">
            <a:extLst>
              <a:ext uri="{FF2B5EF4-FFF2-40B4-BE49-F238E27FC236}">
                <a16:creationId xmlns:a16="http://schemas.microsoft.com/office/drawing/2014/main" id="{70CB547F-7427-E3D2-775B-B18DDB208935}"/>
              </a:ext>
            </a:extLst>
          </p:cNvPr>
          <p:cNvSpPr/>
          <p:nvPr/>
        </p:nvSpPr>
        <p:spPr>
          <a:xfrm rot="5400000">
            <a:off x="6535725" y="2200408"/>
            <a:ext cx="842683" cy="843594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Bent Arrow 14">
            <a:extLst>
              <a:ext uri="{FF2B5EF4-FFF2-40B4-BE49-F238E27FC236}">
                <a16:creationId xmlns:a16="http://schemas.microsoft.com/office/drawing/2014/main" id="{F6FDF23E-B3C3-B991-A6EC-9550F7C96865}"/>
              </a:ext>
            </a:extLst>
          </p:cNvPr>
          <p:cNvSpPr/>
          <p:nvPr/>
        </p:nvSpPr>
        <p:spPr>
          <a:xfrm rot="16200000" flipH="1">
            <a:off x="4293637" y="2203194"/>
            <a:ext cx="842683" cy="843594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34BF45A-AEE7-86C0-D610-5B344498BF10}"/>
              </a:ext>
            </a:extLst>
          </p:cNvPr>
          <p:cNvCxnSpPr/>
          <p:nvPr/>
        </p:nvCxnSpPr>
        <p:spPr>
          <a:xfrm flipV="1">
            <a:off x="7862049" y="3079051"/>
            <a:ext cx="1308845" cy="519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8FEED5F-48D8-1788-C340-C4F57BB9B19B}"/>
              </a:ext>
            </a:extLst>
          </p:cNvPr>
          <p:cNvSpPr txBox="1"/>
          <p:nvPr/>
        </p:nvSpPr>
        <p:spPr>
          <a:xfrm>
            <a:off x="9260543" y="2857449"/>
            <a:ext cx="1335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Dashboard 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E051EDC-C38C-A4B2-A972-52F2B7C72DF5}"/>
              </a:ext>
            </a:extLst>
          </p:cNvPr>
          <p:cNvCxnSpPr>
            <a:cxnSpLocks/>
          </p:cNvCxnSpPr>
          <p:nvPr/>
        </p:nvCxnSpPr>
        <p:spPr>
          <a:xfrm>
            <a:off x="7862048" y="4213788"/>
            <a:ext cx="1398495" cy="2167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2598756-B369-461C-361C-E521ABB64124}"/>
              </a:ext>
            </a:extLst>
          </p:cNvPr>
          <p:cNvSpPr txBox="1"/>
          <p:nvPr/>
        </p:nvSpPr>
        <p:spPr>
          <a:xfrm>
            <a:off x="9274233" y="4245908"/>
            <a:ext cx="1012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Reports 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EC1FB0C-309A-797F-6BE5-61BE8CE8CBCF}"/>
              </a:ext>
            </a:extLst>
          </p:cNvPr>
          <p:cNvCxnSpPr>
            <a:cxnSpLocks/>
          </p:cNvCxnSpPr>
          <p:nvPr/>
        </p:nvCxnSpPr>
        <p:spPr>
          <a:xfrm flipV="1">
            <a:off x="6553203" y="1420700"/>
            <a:ext cx="1308845" cy="234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640986F-F7F1-3B5B-9BFA-3BF91F3FC0D2}"/>
              </a:ext>
            </a:extLst>
          </p:cNvPr>
          <p:cNvSpPr txBox="1"/>
          <p:nvPr/>
        </p:nvSpPr>
        <p:spPr>
          <a:xfrm>
            <a:off x="7862048" y="1097534"/>
            <a:ext cx="26530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Chat with your factory prompt and responses </a:t>
            </a:r>
          </a:p>
        </p:txBody>
      </p:sp>
      <p:sp>
        <p:nvSpPr>
          <p:cNvPr id="3" name="Rounded Rectangle 7">
            <a:extLst>
              <a:ext uri="{FF2B5EF4-FFF2-40B4-BE49-F238E27FC236}">
                <a16:creationId xmlns:a16="http://schemas.microsoft.com/office/drawing/2014/main" id="{70646AAA-0207-D71D-F035-6E27EB5F9750}"/>
              </a:ext>
            </a:extLst>
          </p:cNvPr>
          <p:cNvSpPr/>
          <p:nvPr/>
        </p:nvSpPr>
        <p:spPr>
          <a:xfrm>
            <a:off x="6487861" y="5574700"/>
            <a:ext cx="1398494" cy="6997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/>
              <a:t>ERP</a:t>
            </a:r>
            <a:endParaRPr lang="en-US"/>
          </a:p>
        </p:txBody>
      </p:sp>
      <p:sp>
        <p:nvSpPr>
          <p:cNvPr id="16" name="Right Arrow 9">
            <a:extLst>
              <a:ext uri="{FF2B5EF4-FFF2-40B4-BE49-F238E27FC236}">
                <a16:creationId xmlns:a16="http://schemas.microsoft.com/office/drawing/2014/main" id="{A6F245FD-7973-8A8A-3EEB-E4DB5765027A}"/>
              </a:ext>
            </a:extLst>
          </p:cNvPr>
          <p:cNvSpPr/>
          <p:nvPr/>
        </p:nvSpPr>
        <p:spPr>
          <a:xfrm rot="16200000">
            <a:off x="6873086" y="4955519"/>
            <a:ext cx="579431" cy="6454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7">
            <a:extLst>
              <a:ext uri="{FF2B5EF4-FFF2-40B4-BE49-F238E27FC236}">
                <a16:creationId xmlns:a16="http://schemas.microsoft.com/office/drawing/2014/main" id="{CFD9357A-C427-6D29-30B7-CDD3ABE321D3}"/>
              </a:ext>
            </a:extLst>
          </p:cNvPr>
          <p:cNvSpPr/>
          <p:nvPr/>
        </p:nvSpPr>
        <p:spPr>
          <a:xfrm>
            <a:off x="8890403" y="5449701"/>
            <a:ext cx="1398494" cy="6997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err="1"/>
              <a:t>Simulation</a:t>
            </a:r>
            <a:r>
              <a:rPr lang="tr-TR"/>
              <a:t> </a:t>
            </a:r>
            <a:r>
              <a:rPr lang="tr-TR" err="1"/>
              <a:t>Events</a:t>
            </a:r>
            <a:endParaRPr lang="en-US"/>
          </a:p>
        </p:txBody>
      </p:sp>
      <p:sp>
        <p:nvSpPr>
          <p:cNvPr id="23" name="Right Arrow 9">
            <a:extLst>
              <a:ext uri="{FF2B5EF4-FFF2-40B4-BE49-F238E27FC236}">
                <a16:creationId xmlns:a16="http://schemas.microsoft.com/office/drawing/2014/main" id="{35F2B975-B24D-6499-6D4A-FFC133C1EC8C}"/>
              </a:ext>
            </a:extLst>
          </p:cNvPr>
          <p:cNvSpPr/>
          <p:nvPr/>
        </p:nvSpPr>
        <p:spPr>
          <a:xfrm rot="12846237">
            <a:off x="7783941" y="4846444"/>
            <a:ext cx="1173471" cy="6454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342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D0AD7-2FF2-64D9-1945-4BD9CE1AC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FE4E7-73C1-CAA1-5DB5-483C3302D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Demo high level architecture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215A9-98C0-F619-8DB5-2C9DBB9C7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8493-25C3-42EA-A5F0-25832C54C181}" type="datetime1">
              <a:rPr lang="tr-TR" smtClean="0"/>
              <a:t>19.08.2025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C8E91-3707-CE3D-E41F-FF5FE7CD7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All rights belong to ARDIC.</a:t>
            </a:r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61F3E2-866A-4AD3-CB0D-595957CC4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74550-B831-45C5-B633-259031137E24}" type="slidenum">
              <a:rPr lang="tr-TR" smtClean="0"/>
              <a:t>3</a:t>
            </a:fld>
            <a:endParaRPr lang="tr-TR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DD34D5C-6E6C-1C25-B307-A748CCC8A2AF}"/>
              </a:ext>
            </a:extLst>
          </p:cNvPr>
          <p:cNvSpPr/>
          <p:nvPr/>
        </p:nvSpPr>
        <p:spPr>
          <a:xfrm>
            <a:off x="3738283" y="3079051"/>
            <a:ext cx="1398494" cy="190948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Ignite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3458A33-E836-1F45-D3BC-32047B4AF452}"/>
              </a:ext>
            </a:extLst>
          </p:cNvPr>
          <p:cNvSpPr/>
          <p:nvPr/>
        </p:nvSpPr>
        <p:spPr>
          <a:xfrm>
            <a:off x="6463555" y="3079051"/>
            <a:ext cx="1398494" cy="190948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err="1"/>
              <a:t>ArMES</a:t>
            </a:r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896BAEE-017A-43D0-840A-AF7873BEEDE6}"/>
              </a:ext>
            </a:extLst>
          </p:cNvPr>
          <p:cNvSpPr/>
          <p:nvPr/>
        </p:nvSpPr>
        <p:spPr>
          <a:xfrm>
            <a:off x="5136777" y="958712"/>
            <a:ext cx="1398494" cy="190948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CWYF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586FEABC-9C67-C7EE-78DB-5BAEBF08DC3E}"/>
              </a:ext>
            </a:extLst>
          </p:cNvPr>
          <p:cNvSpPr/>
          <p:nvPr/>
        </p:nvSpPr>
        <p:spPr>
          <a:xfrm>
            <a:off x="2411506" y="3706393"/>
            <a:ext cx="1326777" cy="6454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753F21-5D1F-7769-DEB9-5738B4530F81}"/>
              </a:ext>
            </a:extLst>
          </p:cNvPr>
          <p:cNvSpPr txBox="1"/>
          <p:nvPr/>
        </p:nvSpPr>
        <p:spPr>
          <a:xfrm>
            <a:off x="610836" y="3844456"/>
            <a:ext cx="1584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Machine data </a:t>
            </a: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76CAE7F8-3B6A-15F6-EF80-E1FB5D29AF36}"/>
              </a:ext>
            </a:extLst>
          </p:cNvPr>
          <p:cNvSpPr/>
          <p:nvPr/>
        </p:nvSpPr>
        <p:spPr>
          <a:xfrm>
            <a:off x="5136777" y="3706392"/>
            <a:ext cx="1326777" cy="6454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9E4A2B-C84E-3AA4-2A39-3E33CA1143E3}"/>
              </a:ext>
            </a:extLst>
          </p:cNvPr>
          <p:cNvSpPr txBox="1"/>
          <p:nvPr/>
        </p:nvSpPr>
        <p:spPr>
          <a:xfrm>
            <a:off x="5136777" y="4380652"/>
            <a:ext cx="12403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Kafka / API</a:t>
            </a:r>
          </a:p>
        </p:txBody>
      </p:sp>
      <p:sp>
        <p:nvSpPr>
          <p:cNvPr id="14" name="Bent Arrow 13">
            <a:extLst>
              <a:ext uri="{FF2B5EF4-FFF2-40B4-BE49-F238E27FC236}">
                <a16:creationId xmlns:a16="http://schemas.microsoft.com/office/drawing/2014/main" id="{B0095BE4-E534-E488-A5F1-8CCE5A497AA4}"/>
              </a:ext>
            </a:extLst>
          </p:cNvPr>
          <p:cNvSpPr/>
          <p:nvPr/>
        </p:nvSpPr>
        <p:spPr>
          <a:xfrm rot="5400000">
            <a:off x="6535725" y="2200408"/>
            <a:ext cx="842683" cy="843594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Bent Arrow 14">
            <a:extLst>
              <a:ext uri="{FF2B5EF4-FFF2-40B4-BE49-F238E27FC236}">
                <a16:creationId xmlns:a16="http://schemas.microsoft.com/office/drawing/2014/main" id="{8093BB6C-234D-2C3E-4B30-45C3013F71B4}"/>
              </a:ext>
            </a:extLst>
          </p:cNvPr>
          <p:cNvSpPr/>
          <p:nvPr/>
        </p:nvSpPr>
        <p:spPr>
          <a:xfrm rot="16200000" flipH="1">
            <a:off x="4293637" y="2203194"/>
            <a:ext cx="842683" cy="843594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71179DC-BA55-432C-7860-BF6D48662F6D}"/>
              </a:ext>
            </a:extLst>
          </p:cNvPr>
          <p:cNvCxnSpPr/>
          <p:nvPr/>
        </p:nvCxnSpPr>
        <p:spPr>
          <a:xfrm flipV="1">
            <a:off x="7862049" y="3079051"/>
            <a:ext cx="1308845" cy="519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90978B8-042E-DD63-5996-470BF10E7F0E}"/>
              </a:ext>
            </a:extLst>
          </p:cNvPr>
          <p:cNvSpPr txBox="1"/>
          <p:nvPr/>
        </p:nvSpPr>
        <p:spPr>
          <a:xfrm>
            <a:off x="9260543" y="2857449"/>
            <a:ext cx="1335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Dashboard 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4E459AC-98AF-3608-D700-8856CEC37F13}"/>
              </a:ext>
            </a:extLst>
          </p:cNvPr>
          <p:cNvCxnSpPr>
            <a:cxnSpLocks/>
          </p:cNvCxnSpPr>
          <p:nvPr/>
        </p:nvCxnSpPr>
        <p:spPr>
          <a:xfrm>
            <a:off x="7862048" y="4213788"/>
            <a:ext cx="1398495" cy="2167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CEBAB05-EE62-206E-6072-78BCD3E0A0DE}"/>
              </a:ext>
            </a:extLst>
          </p:cNvPr>
          <p:cNvSpPr txBox="1"/>
          <p:nvPr/>
        </p:nvSpPr>
        <p:spPr>
          <a:xfrm>
            <a:off x="9274233" y="4245908"/>
            <a:ext cx="1012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Reports 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A79719B-FB81-0B0D-FE1F-4A68B3F23807}"/>
              </a:ext>
            </a:extLst>
          </p:cNvPr>
          <p:cNvCxnSpPr>
            <a:cxnSpLocks/>
          </p:cNvCxnSpPr>
          <p:nvPr/>
        </p:nvCxnSpPr>
        <p:spPr>
          <a:xfrm flipV="1">
            <a:off x="6553203" y="1420700"/>
            <a:ext cx="1308845" cy="234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1395D8D-AFE3-5B17-6459-7A3A6DFAC2E1}"/>
              </a:ext>
            </a:extLst>
          </p:cNvPr>
          <p:cNvSpPr txBox="1"/>
          <p:nvPr/>
        </p:nvSpPr>
        <p:spPr>
          <a:xfrm>
            <a:off x="7862048" y="1097534"/>
            <a:ext cx="26530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Chat with your factory prompt and responses </a:t>
            </a:r>
          </a:p>
        </p:txBody>
      </p:sp>
      <p:sp>
        <p:nvSpPr>
          <p:cNvPr id="3" name="Rounded Rectangle 7">
            <a:extLst>
              <a:ext uri="{FF2B5EF4-FFF2-40B4-BE49-F238E27FC236}">
                <a16:creationId xmlns:a16="http://schemas.microsoft.com/office/drawing/2014/main" id="{B2F8DC50-19A1-8ABF-8892-C97C747E15A1}"/>
              </a:ext>
            </a:extLst>
          </p:cNvPr>
          <p:cNvSpPr/>
          <p:nvPr/>
        </p:nvSpPr>
        <p:spPr>
          <a:xfrm>
            <a:off x="6487861" y="5574700"/>
            <a:ext cx="1398494" cy="6997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/>
              <a:t>ERP</a:t>
            </a:r>
            <a:endParaRPr lang="en-US"/>
          </a:p>
        </p:txBody>
      </p:sp>
      <p:sp>
        <p:nvSpPr>
          <p:cNvPr id="16" name="Right Arrow 9">
            <a:extLst>
              <a:ext uri="{FF2B5EF4-FFF2-40B4-BE49-F238E27FC236}">
                <a16:creationId xmlns:a16="http://schemas.microsoft.com/office/drawing/2014/main" id="{0B3AB101-EB90-09C4-7BAF-EC22357D4145}"/>
              </a:ext>
            </a:extLst>
          </p:cNvPr>
          <p:cNvSpPr/>
          <p:nvPr/>
        </p:nvSpPr>
        <p:spPr>
          <a:xfrm rot="16200000">
            <a:off x="6873086" y="4955519"/>
            <a:ext cx="579431" cy="6454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7">
            <a:extLst>
              <a:ext uri="{FF2B5EF4-FFF2-40B4-BE49-F238E27FC236}">
                <a16:creationId xmlns:a16="http://schemas.microsoft.com/office/drawing/2014/main" id="{82E1E2C1-C0EE-AE40-AEF0-B8963107C737}"/>
              </a:ext>
            </a:extLst>
          </p:cNvPr>
          <p:cNvSpPr/>
          <p:nvPr/>
        </p:nvSpPr>
        <p:spPr>
          <a:xfrm>
            <a:off x="8890403" y="5449701"/>
            <a:ext cx="1398494" cy="6997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err="1"/>
              <a:t>Simulation</a:t>
            </a:r>
            <a:r>
              <a:rPr lang="tr-TR"/>
              <a:t> </a:t>
            </a:r>
            <a:r>
              <a:rPr lang="tr-TR" err="1"/>
              <a:t>Events</a:t>
            </a:r>
            <a:endParaRPr lang="en-US"/>
          </a:p>
        </p:txBody>
      </p:sp>
      <p:sp>
        <p:nvSpPr>
          <p:cNvPr id="23" name="Right Arrow 9">
            <a:extLst>
              <a:ext uri="{FF2B5EF4-FFF2-40B4-BE49-F238E27FC236}">
                <a16:creationId xmlns:a16="http://schemas.microsoft.com/office/drawing/2014/main" id="{368AB626-84EB-C6D2-4A57-66D155C885FA}"/>
              </a:ext>
            </a:extLst>
          </p:cNvPr>
          <p:cNvSpPr/>
          <p:nvPr/>
        </p:nvSpPr>
        <p:spPr>
          <a:xfrm rot="12846237">
            <a:off x="7783941" y="4846444"/>
            <a:ext cx="1173471" cy="6454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566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2FB76-18D5-DDEF-CA84-74A4A0452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Demo high level architecture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2992C-B573-5147-C7C2-87D3A97D1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8493-25C3-42EA-A5F0-25832C54C181}" type="datetime1">
              <a:rPr lang="tr-TR" smtClean="0"/>
              <a:t>19.08.2025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1A9B8C-B9B9-C9CB-8AE4-EE0A64CF4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All rights belong to ARDIC.</a:t>
            </a:r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238A68-5A53-797B-A010-279C3E3E9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74550-B831-45C5-B633-259031137E24}" type="slidenum">
              <a:rPr lang="tr-TR" smtClean="0"/>
              <a:t>4</a:t>
            </a:fld>
            <a:endParaRPr lang="tr-TR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8A1618C-96E3-E765-3ABC-0CDE524DD132}"/>
              </a:ext>
            </a:extLst>
          </p:cNvPr>
          <p:cNvSpPr/>
          <p:nvPr/>
        </p:nvSpPr>
        <p:spPr>
          <a:xfrm>
            <a:off x="2431775" y="2236638"/>
            <a:ext cx="1398494" cy="280614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Machine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462236AE-B559-8045-A1B6-B9C0AA20EBBF}"/>
              </a:ext>
            </a:extLst>
          </p:cNvPr>
          <p:cNvSpPr/>
          <p:nvPr/>
        </p:nvSpPr>
        <p:spPr>
          <a:xfrm>
            <a:off x="3830266" y="2399559"/>
            <a:ext cx="1326777" cy="6454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8DF6B7-7153-C8FB-74D9-20AC0349108B}"/>
              </a:ext>
            </a:extLst>
          </p:cNvPr>
          <p:cNvSpPr txBox="1"/>
          <p:nvPr/>
        </p:nvSpPr>
        <p:spPr>
          <a:xfrm>
            <a:off x="5159465" y="2380059"/>
            <a:ext cx="2081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Generic State data </a:t>
            </a:r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B11F9B05-FED2-2D2A-03FB-035DCCD0F635}"/>
              </a:ext>
            </a:extLst>
          </p:cNvPr>
          <p:cNvSpPr/>
          <p:nvPr/>
        </p:nvSpPr>
        <p:spPr>
          <a:xfrm>
            <a:off x="3830266" y="4162949"/>
            <a:ext cx="1326777" cy="6454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8CF303-7F3D-D7A3-C432-5E99619C121B}"/>
              </a:ext>
            </a:extLst>
          </p:cNvPr>
          <p:cNvSpPr txBox="1"/>
          <p:nvPr/>
        </p:nvSpPr>
        <p:spPr>
          <a:xfrm>
            <a:off x="5157043" y="4718740"/>
            <a:ext cx="514051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Speed,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Temperature,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Pressure,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Vibration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…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7A1851F-10D3-32FD-C0BF-ED91BF5CCC1D}"/>
              </a:ext>
            </a:extLst>
          </p:cNvPr>
          <p:cNvSpPr txBox="1"/>
          <p:nvPr/>
        </p:nvSpPr>
        <p:spPr>
          <a:xfrm>
            <a:off x="5228760" y="4333490"/>
            <a:ext cx="2433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Machine Specific data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28AE86-FD38-BF7A-FCD3-0F9506AA9ABF}"/>
              </a:ext>
            </a:extLst>
          </p:cNvPr>
          <p:cNvSpPr txBox="1"/>
          <p:nvPr/>
        </p:nvSpPr>
        <p:spPr>
          <a:xfrm>
            <a:off x="5157043" y="2693108"/>
            <a:ext cx="383361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0"/>
              <a:t>Status (Running, Idle, Offline, Maintenance)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0"/>
              <a:t>Raw-In, </a:t>
            </a:r>
            <a:r>
              <a:rPr lang="en-US" sz="1400" noProof="0" err="1"/>
              <a:t>Prod_Out</a:t>
            </a:r>
            <a:endParaRPr lang="en-US" sz="1400" noProof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0"/>
              <a:t>Error/Fault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0"/>
              <a:t>Energy Usage</a:t>
            </a:r>
            <a:endParaRPr lang="en-US" sz="1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F1065C-2FC4-99CB-90D3-673080CEDABB}"/>
              </a:ext>
            </a:extLst>
          </p:cNvPr>
          <p:cNvSpPr txBox="1"/>
          <p:nvPr/>
        </p:nvSpPr>
        <p:spPr>
          <a:xfrm>
            <a:off x="2378767" y="1020659"/>
            <a:ext cx="514051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noProof="0"/>
              <a:t>Machine Characteristics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Cycle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Production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Sensor Data Limits</a:t>
            </a:r>
          </a:p>
        </p:txBody>
      </p:sp>
    </p:spTree>
    <p:extLst>
      <p:ext uri="{BB962C8B-B14F-4D97-AF65-F5344CB8AC3E}">
        <p14:creationId xmlns:p14="http://schemas.microsoft.com/office/powerpoint/2010/main" val="3628975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44C719DD-E4F0-A255-646A-2F3F92875D3A}"/>
              </a:ext>
            </a:extLst>
          </p:cNvPr>
          <p:cNvSpPr/>
          <p:nvPr/>
        </p:nvSpPr>
        <p:spPr>
          <a:xfrm>
            <a:off x="229772" y="3964412"/>
            <a:ext cx="8764759" cy="245700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b="1" noProof="0">
                <a:solidFill>
                  <a:schemeClr val="tx1"/>
                </a:solidFill>
              </a:rPr>
              <a:t>INPUT</a:t>
            </a:r>
            <a:endParaRPr lang="en-US" sz="1100" b="1" noProof="0">
              <a:solidFill>
                <a:schemeClr val="tx1"/>
              </a:solidFill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AB7B664-3CEF-ADDA-9023-98782E2CFC19}"/>
              </a:ext>
            </a:extLst>
          </p:cNvPr>
          <p:cNvCxnSpPr>
            <a:cxnSpLocks/>
          </p:cNvCxnSpPr>
          <p:nvPr/>
        </p:nvCxnSpPr>
        <p:spPr>
          <a:xfrm>
            <a:off x="4744750" y="871869"/>
            <a:ext cx="0" cy="2653846"/>
          </a:xfrm>
          <a:prstGeom prst="straightConnector1">
            <a:avLst/>
          </a:prstGeom>
          <a:ln w="152400">
            <a:solidFill>
              <a:schemeClr val="accent2">
                <a:lumMod val="40000"/>
                <a:lumOff val="6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2EC00BA-4957-EC97-4577-DE47A20BA437}"/>
              </a:ext>
            </a:extLst>
          </p:cNvPr>
          <p:cNvGrpSpPr/>
          <p:nvPr/>
        </p:nvGrpSpPr>
        <p:grpSpPr>
          <a:xfrm>
            <a:off x="593678" y="772140"/>
            <a:ext cx="10216831" cy="1666761"/>
            <a:chOff x="1286277" y="1602749"/>
            <a:chExt cx="10216831" cy="1666761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0072B05-1878-D42D-2512-05FFACD60FCE}"/>
                </a:ext>
              </a:extLst>
            </p:cNvPr>
            <p:cNvCxnSpPr>
              <a:cxnSpLocks/>
            </p:cNvCxnSpPr>
            <p:nvPr/>
          </p:nvCxnSpPr>
          <p:spPr>
            <a:xfrm>
              <a:off x="1286277" y="2436129"/>
              <a:ext cx="2695073" cy="0"/>
            </a:xfrm>
            <a:prstGeom prst="line">
              <a:avLst/>
            </a:prstGeom>
            <a:ln w="2032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1785A4C-C612-6EE1-FAB0-1851E44F9699}"/>
                </a:ext>
              </a:extLst>
            </p:cNvPr>
            <p:cNvSpPr/>
            <p:nvPr/>
          </p:nvSpPr>
          <p:spPr>
            <a:xfrm>
              <a:off x="3889381" y="1602749"/>
              <a:ext cx="1803932" cy="1666761"/>
            </a:xfrm>
            <a:prstGeom prst="rect">
              <a:avLst/>
            </a:prstGeom>
            <a:ln w="2032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C0D0A26-A1C4-EA51-961A-9171B9EA8EE2}"/>
                </a:ext>
              </a:extLst>
            </p:cNvPr>
            <p:cNvCxnSpPr>
              <a:cxnSpLocks/>
            </p:cNvCxnSpPr>
            <p:nvPr/>
          </p:nvCxnSpPr>
          <p:spPr>
            <a:xfrm>
              <a:off x="5794863" y="2436129"/>
              <a:ext cx="5708245" cy="0"/>
            </a:xfrm>
            <a:prstGeom prst="line">
              <a:avLst/>
            </a:prstGeom>
            <a:ln w="203200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10464B6-8D40-9EFA-6DCD-F33B7CEA0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693" y="123903"/>
            <a:ext cx="10515600" cy="521774"/>
          </a:xfrm>
        </p:spPr>
        <p:txBody>
          <a:bodyPr/>
          <a:lstStyle/>
          <a:p>
            <a:r>
              <a:rPr lang="en-US" noProof="0"/>
              <a:t>Virtual Factory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8F8951-D72B-00A1-87F6-A1BACC63B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5A751-790B-4835-99CD-6FC53EBAB768}" type="datetime1">
              <a:rPr lang="en-US" noProof="0" smtClean="0"/>
              <a:t>8/19/25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639B29-13DB-192C-6824-6927D8085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All rights belong to ARDIC.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A0844D-12F2-E547-8363-7E980C3F2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74550-B831-45C5-B633-259031137E24}" type="slidenum">
              <a:rPr lang="en-US" noProof="0" smtClean="0"/>
              <a:t>5</a:t>
            </a:fld>
            <a:endParaRPr lang="en-US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146BAA-D1FD-0392-C7D6-D550311799D9}"/>
              </a:ext>
            </a:extLst>
          </p:cNvPr>
          <p:cNvSpPr/>
          <p:nvPr/>
        </p:nvSpPr>
        <p:spPr>
          <a:xfrm>
            <a:off x="180279" y="1058321"/>
            <a:ext cx="1238766" cy="10943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noProof="0"/>
              <a:t>Raw Material Storage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7227C9-463A-DA6D-A23E-50662B2E2719}"/>
              </a:ext>
            </a:extLst>
          </p:cNvPr>
          <p:cNvSpPr/>
          <p:nvPr/>
        </p:nvSpPr>
        <p:spPr>
          <a:xfrm>
            <a:off x="1646685" y="1058321"/>
            <a:ext cx="1238766" cy="1094398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/>
              <a:t>Machine </a:t>
            </a:r>
            <a:r>
              <a:rPr lang="tr-TR" sz="1200" noProof="0"/>
              <a:t># </a:t>
            </a:r>
            <a:r>
              <a:rPr lang="en-US" sz="1200" noProof="0"/>
              <a:t>1 </a:t>
            </a:r>
          </a:p>
          <a:p>
            <a:pPr algn="ctr"/>
            <a:endParaRPr lang="en-US" sz="1200" noProof="0"/>
          </a:p>
          <a:p>
            <a:pPr algn="ctr"/>
            <a:r>
              <a:rPr lang="en-US" sz="1600" noProof="0"/>
              <a:t>Operator Station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D9D4FD-307F-2085-1A4C-F79C487CB548}"/>
              </a:ext>
            </a:extLst>
          </p:cNvPr>
          <p:cNvSpPr/>
          <p:nvPr/>
        </p:nvSpPr>
        <p:spPr>
          <a:xfrm>
            <a:off x="3377840" y="237522"/>
            <a:ext cx="1238766" cy="1094398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200" noProof="0"/>
              <a:t>#</a:t>
            </a:r>
            <a:r>
              <a:rPr lang="en-US" sz="1200" noProof="0"/>
              <a:t> 2 </a:t>
            </a:r>
          </a:p>
          <a:p>
            <a:pPr algn="ctr"/>
            <a:endParaRPr lang="en-US" sz="1200" noProof="0"/>
          </a:p>
          <a:p>
            <a:pPr algn="ctr"/>
            <a:r>
              <a:rPr lang="en-US" sz="1600" noProof="0"/>
              <a:t>Semi Product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897BF3-FE4E-7A8B-54C4-EF13AB8A4654}"/>
              </a:ext>
            </a:extLst>
          </p:cNvPr>
          <p:cNvSpPr/>
          <p:nvPr/>
        </p:nvSpPr>
        <p:spPr>
          <a:xfrm>
            <a:off x="3351538" y="1893979"/>
            <a:ext cx="1238766" cy="1094398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200" noProof="0"/>
              <a:t>#</a:t>
            </a:r>
            <a:r>
              <a:rPr lang="en-US" sz="1200" noProof="0"/>
              <a:t> 3 </a:t>
            </a:r>
          </a:p>
          <a:p>
            <a:pPr algn="ctr"/>
            <a:endParaRPr lang="en-US" sz="1200" noProof="0"/>
          </a:p>
          <a:p>
            <a:pPr algn="ctr"/>
            <a:r>
              <a:rPr lang="en-US" sz="1600" noProof="0"/>
              <a:t>Semi Product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AF6E35-CD89-202F-80BF-F4B16EBF1783}"/>
              </a:ext>
            </a:extLst>
          </p:cNvPr>
          <p:cNvSpPr/>
          <p:nvPr/>
        </p:nvSpPr>
        <p:spPr>
          <a:xfrm>
            <a:off x="5318938" y="1076640"/>
            <a:ext cx="1238766" cy="1094398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200" noProof="0"/>
              <a:t>#</a:t>
            </a:r>
            <a:r>
              <a:rPr lang="en-US" sz="1200" noProof="0"/>
              <a:t> 4 </a:t>
            </a:r>
          </a:p>
          <a:p>
            <a:pPr algn="ctr"/>
            <a:endParaRPr lang="en-US" sz="1200" noProof="0"/>
          </a:p>
          <a:p>
            <a:pPr algn="ctr"/>
            <a:r>
              <a:rPr lang="en-US" sz="1600" noProof="0"/>
              <a:t>Product</a:t>
            </a:r>
          </a:p>
          <a:p>
            <a:pPr algn="ctr"/>
            <a:r>
              <a:rPr lang="en-US" sz="1600" noProof="0"/>
              <a:t>Assembly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AFBD96-3570-029C-34F4-833AC37640DF}"/>
              </a:ext>
            </a:extLst>
          </p:cNvPr>
          <p:cNvSpPr/>
          <p:nvPr/>
        </p:nvSpPr>
        <p:spPr>
          <a:xfrm>
            <a:off x="7041788" y="1076640"/>
            <a:ext cx="1238766" cy="1094398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200" noProof="0"/>
              <a:t>#</a:t>
            </a:r>
            <a:r>
              <a:rPr lang="en-US" sz="1200" noProof="0"/>
              <a:t> 5 </a:t>
            </a:r>
          </a:p>
          <a:p>
            <a:pPr algn="ctr"/>
            <a:endParaRPr lang="en-US" sz="1200" noProof="0"/>
          </a:p>
          <a:p>
            <a:pPr algn="ctr"/>
            <a:r>
              <a:rPr lang="en-US" sz="1600" noProof="0"/>
              <a:t>Quality Control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AE49152-73D4-527F-0FD2-9921F94FC3FF}"/>
              </a:ext>
            </a:extLst>
          </p:cNvPr>
          <p:cNvSpPr/>
          <p:nvPr/>
        </p:nvSpPr>
        <p:spPr>
          <a:xfrm>
            <a:off x="8734316" y="1058321"/>
            <a:ext cx="1238766" cy="1094398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200" noProof="0"/>
              <a:t>#</a:t>
            </a:r>
            <a:r>
              <a:rPr lang="en-US" sz="1200" noProof="0"/>
              <a:t> 6 </a:t>
            </a:r>
          </a:p>
          <a:p>
            <a:pPr algn="ctr"/>
            <a:endParaRPr lang="en-US" sz="1200" noProof="0"/>
          </a:p>
          <a:p>
            <a:pPr algn="ctr"/>
            <a:r>
              <a:rPr lang="en-US" sz="1600" noProof="0"/>
              <a:t>Packaging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0071E86-DD31-5036-8A87-9FC99AB84EB7}"/>
              </a:ext>
            </a:extLst>
          </p:cNvPr>
          <p:cNvCxnSpPr>
            <a:cxnSpLocks/>
          </p:cNvCxnSpPr>
          <p:nvPr/>
        </p:nvCxnSpPr>
        <p:spPr>
          <a:xfrm>
            <a:off x="6801363" y="1709410"/>
            <a:ext cx="0" cy="1816305"/>
          </a:xfrm>
          <a:prstGeom prst="straightConnector1">
            <a:avLst/>
          </a:prstGeom>
          <a:ln w="152400">
            <a:solidFill>
              <a:schemeClr val="accent2">
                <a:lumMod val="40000"/>
                <a:lumOff val="6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77CA439-092B-74C0-2016-53AF1ACE5066}"/>
              </a:ext>
            </a:extLst>
          </p:cNvPr>
          <p:cNvCxnSpPr>
            <a:cxnSpLocks/>
          </p:cNvCxnSpPr>
          <p:nvPr/>
        </p:nvCxnSpPr>
        <p:spPr>
          <a:xfrm>
            <a:off x="8506410" y="1709409"/>
            <a:ext cx="0" cy="1816306"/>
          </a:xfrm>
          <a:prstGeom prst="straightConnector1">
            <a:avLst/>
          </a:prstGeom>
          <a:ln w="152400">
            <a:solidFill>
              <a:schemeClr val="accent2">
                <a:lumMod val="40000"/>
                <a:lumOff val="6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F85BE46D-ECBD-E4AF-BF46-9DA6B8737070}"/>
              </a:ext>
            </a:extLst>
          </p:cNvPr>
          <p:cNvSpPr/>
          <p:nvPr/>
        </p:nvSpPr>
        <p:spPr>
          <a:xfrm>
            <a:off x="6557704" y="3427074"/>
            <a:ext cx="2300861" cy="45415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noProof="0">
                <a:solidFill>
                  <a:schemeClr val="tx1"/>
                </a:solidFill>
              </a:rPr>
              <a:t>Waste/Scrap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C4A1691-96D5-8B95-DB00-41AFF6919FB9}"/>
              </a:ext>
            </a:extLst>
          </p:cNvPr>
          <p:cNvSpPr/>
          <p:nvPr/>
        </p:nvSpPr>
        <p:spPr>
          <a:xfrm>
            <a:off x="4125676" y="3412978"/>
            <a:ext cx="1238766" cy="45415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noProof="0">
                <a:solidFill>
                  <a:schemeClr val="tx1"/>
                </a:solidFill>
              </a:rPr>
              <a:t>Waste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BE4D536-1DFE-AA8B-5E36-054005A9A41E}"/>
              </a:ext>
            </a:extLst>
          </p:cNvPr>
          <p:cNvSpPr/>
          <p:nvPr/>
        </p:nvSpPr>
        <p:spPr>
          <a:xfrm>
            <a:off x="10810509" y="1042475"/>
            <a:ext cx="1238766" cy="10943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noProof="0"/>
              <a:t>Warehouse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C21CA38-533F-9C15-C83D-4FA3FF9B4617}"/>
              </a:ext>
            </a:extLst>
          </p:cNvPr>
          <p:cNvSpPr/>
          <p:nvPr/>
        </p:nvSpPr>
        <p:spPr>
          <a:xfrm rot="16200000">
            <a:off x="6502783" y="980301"/>
            <a:ext cx="599315" cy="30184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>
                <a:solidFill>
                  <a:schemeClr val="tx1"/>
                </a:solidFill>
              </a:rPr>
              <a:t>Buffer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457D2BD-C14A-DD57-2695-A5045C3BE82C}"/>
              </a:ext>
            </a:extLst>
          </p:cNvPr>
          <p:cNvSpPr/>
          <p:nvPr/>
        </p:nvSpPr>
        <p:spPr>
          <a:xfrm rot="16200000">
            <a:off x="8188973" y="1057801"/>
            <a:ext cx="599315" cy="30184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>
                <a:solidFill>
                  <a:schemeClr val="tx1"/>
                </a:solidFill>
              </a:rPr>
              <a:t>Buffer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847B32A-E2E9-8695-D160-5EDBA75A4255}"/>
              </a:ext>
            </a:extLst>
          </p:cNvPr>
          <p:cNvSpPr/>
          <p:nvPr/>
        </p:nvSpPr>
        <p:spPr>
          <a:xfrm>
            <a:off x="4701056" y="275032"/>
            <a:ext cx="599315" cy="30184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>
                <a:solidFill>
                  <a:schemeClr val="tx1"/>
                </a:solidFill>
              </a:rPr>
              <a:t>Buffer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45B58E8-DF39-8C16-0673-3BB3E5CC40E2}"/>
              </a:ext>
            </a:extLst>
          </p:cNvPr>
          <p:cNvSpPr/>
          <p:nvPr/>
        </p:nvSpPr>
        <p:spPr>
          <a:xfrm>
            <a:off x="4909720" y="2626264"/>
            <a:ext cx="599315" cy="30184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>
                <a:solidFill>
                  <a:schemeClr val="tx1"/>
                </a:solidFill>
              </a:rPr>
              <a:t>Buffer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638A9C7-614B-BAB0-E33C-3B0335DD54B1}"/>
              </a:ext>
            </a:extLst>
          </p:cNvPr>
          <p:cNvSpPr/>
          <p:nvPr/>
        </p:nvSpPr>
        <p:spPr>
          <a:xfrm>
            <a:off x="3770737" y="4308480"/>
            <a:ext cx="1678398" cy="1947943"/>
          </a:xfrm>
          <a:prstGeom prst="rect">
            <a:avLst/>
          </a:prstGeom>
          <a:ln w="12700"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88900" indent="-88900">
              <a:buFont typeface="Arial" panose="020B0604020202020204" pitchFamily="34" charset="0"/>
              <a:buChar char="•"/>
            </a:pPr>
            <a:r>
              <a:rPr lang="en-US" sz="1200" noProof="0"/>
              <a:t>Cycle Capacity</a:t>
            </a: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en-US" sz="1200" noProof="0"/>
              <a:t>Status (Running, Idle, Offline, Maintenance …)</a:t>
            </a: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en-US" sz="1200" noProof="0"/>
              <a:t>Speed, Temperature, Pressure, Vibration</a:t>
            </a: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en-US" sz="1200" noProof="0"/>
              <a:t>Error/Fault</a:t>
            </a: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en-US" sz="1200" noProof="0"/>
              <a:t>Energy Usage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B4FCE4B-46D1-37D6-6988-425677A3098C}"/>
              </a:ext>
            </a:extLst>
          </p:cNvPr>
          <p:cNvSpPr/>
          <p:nvPr/>
        </p:nvSpPr>
        <p:spPr>
          <a:xfrm>
            <a:off x="5487939" y="4308480"/>
            <a:ext cx="1678398" cy="1947942"/>
          </a:xfrm>
          <a:prstGeom prst="rect">
            <a:avLst/>
          </a:prstGeom>
          <a:solidFill>
            <a:srgbClr val="F6C6AD"/>
          </a:solidFill>
          <a:ln w="12700"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88900" indent="-88900">
              <a:buFont typeface="Arial" panose="020B0604020202020204" pitchFamily="34" charset="0"/>
              <a:buChar char="•"/>
            </a:pPr>
            <a:r>
              <a:rPr lang="en-US" sz="1200" noProof="0">
                <a:solidFill>
                  <a:schemeClr val="tx1"/>
                </a:solidFill>
              </a:rPr>
              <a:t>Total/Defective production</a:t>
            </a: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en-US" sz="1200" noProof="0">
                <a:solidFill>
                  <a:schemeClr val="tx1"/>
                </a:solidFill>
              </a:rPr>
              <a:t>Defect category</a:t>
            </a: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en-US" sz="1200" noProof="0">
                <a:solidFill>
                  <a:schemeClr val="tx1"/>
                </a:solidFill>
              </a:rPr>
              <a:t>Buffer utilization</a:t>
            </a: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en-US" sz="1200" noProof="0">
                <a:solidFill>
                  <a:schemeClr val="tx1"/>
                </a:solidFill>
              </a:rPr>
              <a:t>Production Lab. Test Results</a:t>
            </a: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en-US" sz="1200" noProof="0">
                <a:solidFill>
                  <a:schemeClr val="tx1"/>
                </a:solidFill>
              </a:rPr>
              <a:t>Material waiting time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8567D0D-2DDB-E394-BD38-5E656710FFB9}"/>
              </a:ext>
            </a:extLst>
          </p:cNvPr>
          <p:cNvSpPr/>
          <p:nvPr/>
        </p:nvSpPr>
        <p:spPr>
          <a:xfrm>
            <a:off x="2053535" y="4308480"/>
            <a:ext cx="1678398" cy="1947943"/>
          </a:xfrm>
          <a:prstGeom prst="rect">
            <a:avLst/>
          </a:prstGeom>
          <a:solidFill>
            <a:srgbClr val="156082"/>
          </a:solidFill>
          <a:ln w="12700"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88900" indent="-88900">
              <a:buFont typeface="Arial" panose="020B0604020202020204" pitchFamily="34" charset="0"/>
              <a:buChar char="•"/>
            </a:pPr>
            <a:r>
              <a:rPr lang="en-US" sz="1200" noProof="0"/>
              <a:t>Material Inventory</a:t>
            </a: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en-US" sz="1200" noProof="0"/>
              <a:t>Warehouse Stock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3D47E72-769E-D370-C2D6-DF165E7978B4}"/>
              </a:ext>
            </a:extLst>
          </p:cNvPr>
          <p:cNvSpPr/>
          <p:nvPr/>
        </p:nvSpPr>
        <p:spPr>
          <a:xfrm>
            <a:off x="336334" y="4308480"/>
            <a:ext cx="1678397" cy="194794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88900" indent="-88900">
              <a:buFont typeface="Arial" panose="020B0604020202020204" pitchFamily="34" charset="0"/>
              <a:buChar char="•"/>
            </a:pPr>
            <a:r>
              <a:rPr lang="en-US" sz="1200" noProof="0">
                <a:solidFill>
                  <a:schemeClr val="tx1"/>
                </a:solidFill>
              </a:rPr>
              <a:t>Product List</a:t>
            </a: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en-US" sz="1200" noProof="0">
                <a:solidFill>
                  <a:schemeClr val="tx1"/>
                </a:solidFill>
              </a:rPr>
              <a:t>Labor List</a:t>
            </a: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en-US" sz="1200" noProof="0">
                <a:solidFill>
                  <a:schemeClr val="tx1"/>
                </a:solidFill>
              </a:rPr>
              <a:t>Bill of materials</a:t>
            </a: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en-US" sz="1200" noProof="0">
                <a:solidFill>
                  <a:schemeClr val="tx1"/>
                </a:solidFill>
              </a:rPr>
              <a:t>Planned production</a:t>
            </a: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en-US" sz="1200" noProof="0">
                <a:solidFill>
                  <a:schemeClr val="tx1"/>
                </a:solidFill>
              </a:rPr>
              <a:t>Setup/changeover schedule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523D3FB-477A-FADB-CED4-BDDD66ECB5CF}"/>
              </a:ext>
            </a:extLst>
          </p:cNvPr>
          <p:cNvSpPr/>
          <p:nvPr/>
        </p:nvSpPr>
        <p:spPr>
          <a:xfrm>
            <a:off x="7205139" y="4308480"/>
            <a:ext cx="1678397" cy="1964691"/>
          </a:xfrm>
          <a:prstGeom prst="rect">
            <a:avLst/>
          </a:prstGeom>
          <a:solidFill>
            <a:srgbClr val="7F7F7F"/>
          </a:solidFill>
          <a:ln w="12700"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88900" indent="-88900">
              <a:buFont typeface="Arial" panose="020B0604020202020204" pitchFamily="34" charset="0"/>
              <a:buChar char="•"/>
            </a:pPr>
            <a:r>
              <a:rPr lang="en-US" sz="1200" noProof="0"/>
              <a:t>Ambient temperature</a:t>
            </a: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en-US" sz="1200" noProof="0"/>
              <a:t>Humidity</a:t>
            </a: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en-US" sz="1200" noProof="0"/>
              <a:t>Machine Operator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4EC8474-B11D-17A7-DE2D-E90890F43503}"/>
              </a:ext>
            </a:extLst>
          </p:cNvPr>
          <p:cNvSpPr/>
          <p:nvPr/>
        </p:nvSpPr>
        <p:spPr>
          <a:xfrm>
            <a:off x="9101093" y="3964412"/>
            <a:ext cx="2968075" cy="24570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b="1" noProof="0">
                <a:solidFill>
                  <a:schemeClr val="tx1"/>
                </a:solidFill>
              </a:rPr>
              <a:t>OUTPUT</a:t>
            </a:r>
          </a:p>
          <a:p>
            <a:pPr marL="263525" indent="-165100">
              <a:buFont typeface="Arial" panose="020B0604020202020204" pitchFamily="34" charset="0"/>
              <a:buChar char="•"/>
            </a:pPr>
            <a:r>
              <a:rPr lang="en-US" sz="1200" noProof="0">
                <a:solidFill>
                  <a:schemeClr val="tx1"/>
                </a:solidFill>
              </a:rPr>
              <a:t>OEE</a:t>
            </a:r>
          </a:p>
          <a:p>
            <a:pPr marL="263525" indent="-165100">
              <a:buFont typeface="Arial" panose="020B0604020202020204" pitchFamily="34" charset="0"/>
              <a:buChar char="•"/>
            </a:pPr>
            <a:r>
              <a:rPr lang="en-US" sz="1200" noProof="0">
                <a:solidFill>
                  <a:schemeClr val="tx1"/>
                </a:solidFill>
              </a:rPr>
              <a:t>First Pass Yield</a:t>
            </a:r>
          </a:p>
          <a:p>
            <a:pPr marL="263525" indent="-165100">
              <a:buFont typeface="Arial" panose="020B0604020202020204" pitchFamily="34" charset="0"/>
              <a:buChar char="•"/>
            </a:pPr>
            <a:r>
              <a:rPr lang="en-US" sz="1200" noProof="0">
                <a:solidFill>
                  <a:schemeClr val="tx1"/>
                </a:solidFill>
              </a:rPr>
              <a:t>MTBF</a:t>
            </a:r>
            <a:endParaRPr lang="tr-TR" sz="1200" noProof="0">
              <a:solidFill>
                <a:schemeClr val="tx1"/>
              </a:solidFill>
            </a:endParaRPr>
          </a:p>
          <a:p>
            <a:pPr marL="263525" indent="-165100">
              <a:buFont typeface="Arial" panose="020B0604020202020204" pitchFamily="34" charset="0"/>
              <a:buChar char="•"/>
            </a:pPr>
            <a:r>
              <a:rPr lang="en-US" sz="1200" noProof="0">
                <a:solidFill>
                  <a:schemeClr val="tx1"/>
                </a:solidFill>
              </a:rPr>
              <a:t>Mean Time To Repair</a:t>
            </a:r>
          </a:p>
          <a:p>
            <a:pPr marL="263525" indent="-165100">
              <a:buFont typeface="Arial" panose="020B0604020202020204" pitchFamily="34" charset="0"/>
              <a:buChar char="•"/>
            </a:pPr>
            <a:r>
              <a:rPr lang="en-US" sz="1200" noProof="0">
                <a:solidFill>
                  <a:schemeClr val="tx1"/>
                </a:solidFill>
              </a:rPr>
              <a:t>Capacity Utilization</a:t>
            </a:r>
          </a:p>
          <a:p>
            <a:pPr marL="263525" indent="-165100">
              <a:buFont typeface="Arial" panose="020B0604020202020204" pitchFamily="34" charset="0"/>
              <a:buChar char="•"/>
            </a:pPr>
            <a:r>
              <a:rPr lang="en-US" sz="1200" noProof="0">
                <a:solidFill>
                  <a:schemeClr val="tx1"/>
                </a:solidFill>
              </a:rPr>
              <a:t>Throughput Rate</a:t>
            </a:r>
          </a:p>
          <a:p>
            <a:pPr marL="263525" indent="-165100">
              <a:buFont typeface="Arial" panose="020B0604020202020204" pitchFamily="34" charset="0"/>
              <a:buChar char="•"/>
            </a:pPr>
            <a:r>
              <a:rPr lang="en-US" sz="1200" noProof="0">
                <a:solidFill>
                  <a:schemeClr val="tx1"/>
                </a:solidFill>
              </a:rPr>
              <a:t>Bottleneck Analysis</a:t>
            </a:r>
          </a:p>
          <a:p>
            <a:pPr marL="263525" indent="-165100">
              <a:buFont typeface="Arial" panose="020B0604020202020204" pitchFamily="34" charset="0"/>
              <a:buChar char="•"/>
            </a:pPr>
            <a:r>
              <a:rPr lang="en-US" sz="1200" noProof="0">
                <a:solidFill>
                  <a:schemeClr val="tx1"/>
                </a:solidFill>
              </a:rPr>
              <a:t>Cost Per Unit, Manufacturing Cost Variance, Cost Driver Analysis, Resource Consumption Efficiency</a:t>
            </a:r>
          </a:p>
        </p:txBody>
      </p:sp>
    </p:spTree>
    <p:extLst>
      <p:ext uri="{BB962C8B-B14F-4D97-AF65-F5344CB8AC3E}">
        <p14:creationId xmlns:p14="http://schemas.microsoft.com/office/powerpoint/2010/main" val="104185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1D5C9-9ACA-4A25-DAC1-D3AD41346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33AF52-E93F-70CB-933A-B222DF5EF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B1642-7020-4CFE-B976-BDEBF540CA36}" type="datetime1">
              <a:rPr lang="tr-TR" smtClean="0"/>
              <a:t>19.08.2025</a:t>
            </a:fld>
            <a:endParaRPr lang="tr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7C22CF-7B08-E234-0F6E-814E27E06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All rights belong to ARDIC.</a:t>
            </a:r>
            <a:endParaRPr lang="tr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858940-A3B9-500F-5BD8-24BC7EFB2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74550-B831-45C5-B633-259031137E24}" type="slidenum">
              <a:rPr lang="tr-TR" smtClean="0"/>
              <a:t>6</a:t>
            </a:fld>
            <a:endParaRPr lang="tr-T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45B3A1-2B35-F261-83BD-D816DA1E6D5C}"/>
              </a:ext>
            </a:extLst>
          </p:cNvPr>
          <p:cNvSpPr/>
          <p:nvPr/>
        </p:nvSpPr>
        <p:spPr>
          <a:xfrm>
            <a:off x="3331294" y="2881801"/>
            <a:ext cx="1238766" cy="1094398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400" noProof="0"/>
              <a:t>Data </a:t>
            </a:r>
            <a:r>
              <a:rPr lang="tr-TR" sz="1400" noProof="0" err="1"/>
              <a:t>Generator</a:t>
            </a:r>
            <a:endParaRPr lang="en-US" noProof="0"/>
          </a:p>
        </p:txBody>
      </p:sp>
      <p:sp>
        <p:nvSpPr>
          <p:cNvPr id="7" name="Cylinder 6">
            <a:extLst>
              <a:ext uri="{FF2B5EF4-FFF2-40B4-BE49-F238E27FC236}">
                <a16:creationId xmlns:a16="http://schemas.microsoft.com/office/drawing/2014/main" id="{3ACBF552-009F-132B-2B3E-0E8571EF0275}"/>
              </a:ext>
            </a:extLst>
          </p:cNvPr>
          <p:cNvSpPr/>
          <p:nvPr/>
        </p:nvSpPr>
        <p:spPr>
          <a:xfrm>
            <a:off x="1538654" y="2905857"/>
            <a:ext cx="1028700" cy="1046285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400"/>
              <a:t>Data</a:t>
            </a:r>
          </a:p>
          <a:p>
            <a:pPr algn="ctr"/>
            <a:r>
              <a:rPr lang="tr-TR" sz="1400" err="1"/>
              <a:t>Pattern</a:t>
            </a:r>
            <a:endParaRPr lang="tr-TR" sz="14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A5228C-B647-F115-0C1C-DA62B5011334}"/>
              </a:ext>
            </a:extLst>
          </p:cNvPr>
          <p:cNvSpPr/>
          <p:nvPr/>
        </p:nvSpPr>
        <p:spPr>
          <a:xfrm>
            <a:off x="5334000" y="3081704"/>
            <a:ext cx="2675792" cy="69459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400" noProof="0"/>
              <a:t>Data Queue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767312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80FEBB-FD57-A051-1DD8-0E0B72BD2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B1642-7020-4CFE-B976-BDEBF540CA36}" type="datetime1">
              <a:rPr lang="tr-TR" smtClean="0"/>
              <a:t>19.08.2025</a:t>
            </a:fld>
            <a:endParaRPr lang="tr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0EED64-15E3-E56F-4FB8-9901248B3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All rights belong to ARDIC.</a:t>
            </a:r>
            <a:endParaRPr lang="tr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16EAEC-E57F-560A-CBC5-CCED8566E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74550-B831-45C5-B633-259031137E24}" type="slidenum">
              <a:rPr lang="tr-TR" smtClean="0"/>
              <a:t>7</a:t>
            </a:fld>
            <a:endParaRPr lang="tr-TR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EC175C-4945-0A48-B6B9-A1702BF5B3F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8F8F8"/>
              </a:clrFrom>
              <a:clrTo>
                <a:srgbClr val="F8F8F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95534" y="186652"/>
            <a:ext cx="8146797" cy="6240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519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ADB7F-B6DF-2272-00BE-C11976089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348" y="365126"/>
            <a:ext cx="10602452" cy="521774"/>
          </a:xfrm>
        </p:spPr>
        <p:txBody>
          <a:bodyPr/>
          <a:lstStyle/>
          <a:p>
            <a:r>
              <a:rPr lang="en-US" noProof="0"/>
              <a:t>Instant Coffee Factory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FD957F-45AF-CD10-8FCB-C4C25D3BC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B1642-7020-4CFE-B976-BDEBF540CA36}" type="datetime1">
              <a:rPr lang="en-US" noProof="0" smtClean="0"/>
              <a:t>8/19/25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415B85-E7C9-80E7-F90C-296070E99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All rights belong to ARDIC.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56C9C9-99AB-E69B-CE28-C10EF5A79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74550-B831-45C5-B633-259031137E24}" type="slidenum">
              <a:rPr lang="en-US" noProof="0" smtClean="0"/>
              <a:t>8</a:t>
            </a:fld>
            <a:endParaRPr lang="en-US" noProof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0EDCC1-0F0C-4EF2-E366-A820427D90E6}"/>
              </a:ext>
            </a:extLst>
          </p:cNvPr>
          <p:cNvSpPr/>
          <p:nvPr/>
        </p:nvSpPr>
        <p:spPr>
          <a:xfrm>
            <a:off x="9222473" y="3210936"/>
            <a:ext cx="1001355" cy="63179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noProof="0"/>
              <a:t>Spray Dryer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985441-3283-732F-CDA9-7ACC1BAC3022}"/>
              </a:ext>
            </a:extLst>
          </p:cNvPr>
          <p:cNvSpPr/>
          <p:nvPr/>
        </p:nvSpPr>
        <p:spPr>
          <a:xfrm>
            <a:off x="10519499" y="3193568"/>
            <a:ext cx="1001355" cy="63179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noProof="0"/>
              <a:t>Freeze Dryer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6A1015-55E2-661C-E0BB-443A062490D4}"/>
              </a:ext>
            </a:extLst>
          </p:cNvPr>
          <p:cNvSpPr/>
          <p:nvPr/>
        </p:nvSpPr>
        <p:spPr>
          <a:xfrm>
            <a:off x="6454448" y="2104853"/>
            <a:ext cx="2286126" cy="63179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noProof="0"/>
              <a:t>Extract</a:t>
            </a:r>
            <a:r>
              <a:rPr lang="en-US" sz="1600"/>
              <a:t>ion Columns</a:t>
            </a:r>
            <a:endParaRPr lang="en-US" sz="1600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B46109-CAEC-F6EC-325E-12E55D6C0609}"/>
              </a:ext>
            </a:extLst>
          </p:cNvPr>
          <p:cNvSpPr/>
          <p:nvPr/>
        </p:nvSpPr>
        <p:spPr>
          <a:xfrm>
            <a:off x="9222473" y="4304203"/>
            <a:ext cx="2298381" cy="63179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noProof="0"/>
              <a:t>Packaging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A6B92A-4EF9-DA9F-4447-5297E0C106C9}"/>
              </a:ext>
            </a:extLst>
          </p:cNvPr>
          <p:cNvSpPr/>
          <p:nvPr/>
        </p:nvSpPr>
        <p:spPr>
          <a:xfrm>
            <a:off x="9222474" y="2104853"/>
            <a:ext cx="2298380" cy="63179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noProof="0"/>
              <a:t>Concentrator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AB87328-87AB-848E-08A0-8883DEDB4855}"/>
              </a:ext>
            </a:extLst>
          </p:cNvPr>
          <p:cNvCxnSpPr>
            <a:cxnSpLocks/>
          </p:cNvCxnSpPr>
          <p:nvPr/>
        </p:nvCxnSpPr>
        <p:spPr>
          <a:xfrm>
            <a:off x="8734660" y="2420750"/>
            <a:ext cx="493726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7835793-F35D-BE1D-9393-8B14892903F5}"/>
              </a:ext>
            </a:extLst>
          </p:cNvPr>
          <p:cNvCxnSpPr>
            <a:cxnSpLocks/>
          </p:cNvCxnSpPr>
          <p:nvPr/>
        </p:nvCxnSpPr>
        <p:spPr>
          <a:xfrm>
            <a:off x="9723150" y="3825362"/>
            <a:ext cx="0" cy="478325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2432C3D-AB8C-04A4-87CE-43E3C8286533}"/>
              </a:ext>
            </a:extLst>
          </p:cNvPr>
          <p:cNvCxnSpPr>
            <a:cxnSpLocks/>
          </p:cNvCxnSpPr>
          <p:nvPr/>
        </p:nvCxnSpPr>
        <p:spPr>
          <a:xfrm>
            <a:off x="11020176" y="3825877"/>
            <a:ext cx="0" cy="478325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F19CC969-46A7-CEF5-FB78-B15949520E2A}"/>
              </a:ext>
            </a:extLst>
          </p:cNvPr>
          <p:cNvSpPr/>
          <p:nvPr/>
        </p:nvSpPr>
        <p:spPr>
          <a:xfrm>
            <a:off x="9222473" y="5420976"/>
            <a:ext cx="2298381" cy="6317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noProof="0"/>
              <a:t>Product Warehouse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E146D0-B9E5-A5B9-86B5-DE4D6CDA4281}"/>
              </a:ext>
            </a:extLst>
          </p:cNvPr>
          <p:cNvSpPr/>
          <p:nvPr/>
        </p:nvSpPr>
        <p:spPr>
          <a:xfrm>
            <a:off x="918402" y="1023019"/>
            <a:ext cx="1001355" cy="6317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noProof="0"/>
              <a:t>Bean </a:t>
            </a:r>
            <a:br>
              <a:rPr lang="en-US" sz="1600" noProof="0"/>
            </a:br>
            <a:r>
              <a:rPr lang="en-US" sz="1600" noProof="0"/>
              <a:t>Silo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6705EBA-2D26-DB83-B85B-8E939C5BB2B1}"/>
              </a:ext>
            </a:extLst>
          </p:cNvPr>
          <p:cNvSpPr/>
          <p:nvPr/>
        </p:nvSpPr>
        <p:spPr>
          <a:xfrm>
            <a:off x="2203173" y="1014932"/>
            <a:ext cx="1001355" cy="6317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noProof="0"/>
              <a:t>Bean</a:t>
            </a:r>
            <a:br>
              <a:rPr lang="en-US" sz="1600" noProof="0"/>
            </a:br>
            <a:r>
              <a:rPr lang="en-US" sz="1600" noProof="0"/>
              <a:t>Silo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8A8DE1F-B904-F34F-2549-E0E6A4FD6653}"/>
              </a:ext>
            </a:extLst>
          </p:cNvPr>
          <p:cNvCxnSpPr>
            <a:cxnSpLocks/>
          </p:cNvCxnSpPr>
          <p:nvPr/>
        </p:nvCxnSpPr>
        <p:spPr>
          <a:xfrm>
            <a:off x="10371663" y="4942651"/>
            <a:ext cx="0" cy="478325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9282675-F772-FE55-97B1-CA0FF252F8C7}"/>
              </a:ext>
            </a:extLst>
          </p:cNvPr>
          <p:cNvCxnSpPr>
            <a:cxnSpLocks/>
          </p:cNvCxnSpPr>
          <p:nvPr/>
        </p:nvCxnSpPr>
        <p:spPr>
          <a:xfrm>
            <a:off x="1419079" y="1654813"/>
            <a:ext cx="0" cy="478325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9A5F7DF-DEC0-69DA-9CE2-C607498E7741}"/>
              </a:ext>
            </a:extLst>
          </p:cNvPr>
          <p:cNvCxnSpPr>
            <a:cxnSpLocks/>
          </p:cNvCxnSpPr>
          <p:nvPr/>
        </p:nvCxnSpPr>
        <p:spPr>
          <a:xfrm>
            <a:off x="2703850" y="1646725"/>
            <a:ext cx="0" cy="478325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BBDE9B2-6211-6397-70AA-7D0AAEA3C762}"/>
              </a:ext>
            </a:extLst>
          </p:cNvPr>
          <p:cNvCxnSpPr>
            <a:cxnSpLocks/>
          </p:cNvCxnSpPr>
          <p:nvPr/>
        </p:nvCxnSpPr>
        <p:spPr>
          <a:xfrm>
            <a:off x="9723150" y="2725957"/>
            <a:ext cx="0" cy="478325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D8D422B-145D-250A-8BEB-CA9157B47A1E}"/>
              </a:ext>
            </a:extLst>
          </p:cNvPr>
          <p:cNvCxnSpPr>
            <a:cxnSpLocks/>
          </p:cNvCxnSpPr>
          <p:nvPr/>
        </p:nvCxnSpPr>
        <p:spPr>
          <a:xfrm>
            <a:off x="11020176" y="2725957"/>
            <a:ext cx="0" cy="478325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3B1BB71C-496F-FA8A-755D-7127249E85F0}"/>
              </a:ext>
            </a:extLst>
          </p:cNvPr>
          <p:cNvSpPr/>
          <p:nvPr/>
        </p:nvSpPr>
        <p:spPr>
          <a:xfrm>
            <a:off x="3686425" y="2104853"/>
            <a:ext cx="2286125" cy="63179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noProof="0"/>
              <a:t>Grinder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A9E69EA-8E82-037B-101D-3A1C06A9F70A}"/>
              </a:ext>
            </a:extLst>
          </p:cNvPr>
          <p:cNvCxnSpPr>
            <a:cxnSpLocks/>
          </p:cNvCxnSpPr>
          <p:nvPr/>
        </p:nvCxnSpPr>
        <p:spPr>
          <a:xfrm>
            <a:off x="5966636" y="2420750"/>
            <a:ext cx="493726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5873DC28-6872-3399-E2D2-1BB4C2E96F26}"/>
              </a:ext>
            </a:extLst>
          </p:cNvPr>
          <p:cNvSpPr/>
          <p:nvPr/>
        </p:nvSpPr>
        <p:spPr>
          <a:xfrm>
            <a:off x="918402" y="2104853"/>
            <a:ext cx="2286125" cy="63179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noProof="0"/>
              <a:t>Roaster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8D3AA0E7-0EB6-836F-BE8F-DB8F0BBE2C0B}"/>
              </a:ext>
            </a:extLst>
          </p:cNvPr>
          <p:cNvCxnSpPr>
            <a:cxnSpLocks/>
          </p:cNvCxnSpPr>
          <p:nvPr/>
        </p:nvCxnSpPr>
        <p:spPr>
          <a:xfrm>
            <a:off x="3198613" y="2420750"/>
            <a:ext cx="493726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>
            <a:extLst>
              <a:ext uri="{FF2B5EF4-FFF2-40B4-BE49-F238E27FC236}">
                <a16:creationId xmlns:a16="http://schemas.microsoft.com/office/drawing/2014/main" id="{71AC0FFE-AEFC-0220-0550-18EFDA18C005}"/>
              </a:ext>
            </a:extLst>
          </p:cNvPr>
          <p:cNvSpPr/>
          <p:nvPr/>
        </p:nvSpPr>
        <p:spPr>
          <a:xfrm>
            <a:off x="9222473" y="3905909"/>
            <a:ext cx="330850" cy="33085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>
                <a:solidFill>
                  <a:srgbClr val="C00000"/>
                </a:solidFill>
              </a:rPr>
              <a:t>L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74953432-8886-BBF8-22AA-80AFA476CA36}"/>
              </a:ext>
            </a:extLst>
          </p:cNvPr>
          <p:cNvSpPr/>
          <p:nvPr/>
        </p:nvSpPr>
        <p:spPr>
          <a:xfrm>
            <a:off x="11190004" y="3899099"/>
            <a:ext cx="330850" cy="33085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>
                <a:solidFill>
                  <a:srgbClr val="C00000"/>
                </a:solidFill>
              </a:rPr>
              <a:t>L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B9C1A37C-4F18-0276-E9CD-FA709F230E1B}"/>
              </a:ext>
            </a:extLst>
          </p:cNvPr>
          <p:cNvSpPr/>
          <p:nvPr/>
        </p:nvSpPr>
        <p:spPr>
          <a:xfrm>
            <a:off x="10519499" y="4990292"/>
            <a:ext cx="330850" cy="33085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>
                <a:solidFill>
                  <a:srgbClr val="C00000"/>
                </a:solidFill>
              </a:rPr>
              <a:t>L</a:t>
            </a: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B02A8793-790C-C523-80E6-0424B7BB0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160" y="3141964"/>
            <a:ext cx="3491379" cy="2493173"/>
          </a:xfrm>
          <a:prstGeom prst="rect">
            <a:avLst/>
          </a:prstGeom>
        </p:spPr>
      </p:pic>
      <p:pic>
        <p:nvPicPr>
          <p:cNvPr id="1026" name="Picture 2" descr="Raj Process.">
            <a:extLst>
              <a:ext uri="{FF2B5EF4-FFF2-40B4-BE49-F238E27FC236}">
                <a16:creationId xmlns:a16="http://schemas.microsoft.com/office/drawing/2014/main" id="{2D62E5C5-447D-E585-06CF-BF2273E730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5513" y="3790495"/>
            <a:ext cx="3217887" cy="960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6633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77C85-625B-0A47-65B7-5DCAC3747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Drink Factory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DE1DDB-AE7D-BD0C-9BAB-12D4098EB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B1642-7020-4CFE-B976-BDEBF540CA36}" type="datetime1">
              <a:rPr lang="en-US" noProof="0" smtClean="0"/>
              <a:t>8/19/25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1E2DE4-5099-E071-2BCC-A4E620AC1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All rights belong to ARDIC.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42BF0A-004F-2893-A02E-3AD89CF93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74550-B831-45C5-B633-259031137E24}" type="slidenum">
              <a:rPr lang="en-US" noProof="0" smtClean="0"/>
              <a:t>9</a:t>
            </a:fld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3B3736-01EC-F903-A886-C256BC44D74B}"/>
              </a:ext>
            </a:extLst>
          </p:cNvPr>
          <p:cNvSpPr/>
          <p:nvPr/>
        </p:nvSpPr>
        <p:spPr>
          <a:xfrm>
            <a:off x="749673" y="968289"/>
            <a:ext cx="1334940" cy="6317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noProof="0" dirty="0"/>
              <a:t>Dry </a:t>
            </a:r>
            <a:br>
              <a:rPr lang="en-US" sz="1600" noProof="0" dirty="0"/>
            </a:br>
            <a:r>
              <a:rPr lang="en-US" sz="1600" noProof="0" dirty="0"/>
              <a:t>Silos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BE5CD4-B0D2-F11D-E537-B8407ED595AF}"/>
              </a:ext>
            </a:extLst>
          </p:cNvPr>
          <p:cNvSpPr/>
          <p:nvPr/>
        </p:nvSpPr>
        <p:spPr>
          <a:xfrm>
            <a:off x="2132159" y="968289"/>
            <a:ext cx="1334940" cy="6317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noProof="0" dirty="0"/>
              <a:t>Liquid </a:t>
            </a:r>
            <a:br>
              <a:rPr lang="en-US" sz="1600" noProof="0" dirty="0"/>
            </a:br>
            <a:r>
              <a:rPr lang="en-US" sz="1600" noProof="0" dirty="0"/>
              <a:t>Silos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F670D2-498D-65D4-2D62-2036887348ED}"/>
              </a:ext>
            </a:extLst>
          </p:cNvPr>
          <p:cNvSpPr/>
          <p:nvPr/>
        </p:nvSpPr>
        <p:spPr>
          <a:xfrm>
            <a:off x="3514645" y="968289"/>
            <a:ext cx="1334940" cy="6317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noProof="0" dirty="0"/>
              <a:t>Refrigerated </a:t>
            </a:r>
            <a:br>
              <a:rPr lang="en-US" sz="1600" noProof="0" dirty="0"/>
            </a:br>
            <a:r>
              <a:rPr lang="en-US" sz="1600" noProof="0" dirty="0"/>
              <a:t>Silos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8A8AD4-03AA-04C8-1F69-B13F7F4CA0EA}"/>
              </a:ext>
            </a:extLst>
          </p:cNvPr>
          <p:cNvSpPr/>
          <p:nvPr/>
        </p:nvSpPr>
        <p:spPr>
          <a:xfrm>
            <a:off x="4897131" y="968289"/>
            <a:ext cx="1334940" cy="6317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noProof="0" dirty="0"/>
              <a:t>Water Tank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CD4386-38B0-D39D-970B-9F19056E06E1}"/>
              </a:ext>
            </a:extLst>
          </p:cNvPr>
          <p:cNvSpPr/>
          <p:nvPr/>
        </p:nvSpPr>
        <p:spPr>
          <a:xfrm>
            <a:off x="4182115" y="3157501"/>
            <a:ext cx="1334940" cy="6317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noProof="0" dirty="0"/>
              <a:t>Mixer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190741-14C6-1508-91DF-7BD4D5AA6BFC}"/>
              </a:ext>
            </a:extLst>
          </p:cNvPr>
          <p:cNvSpPr/>
          <p:nvPr/>
        </p:nvSpPr>
        <p:spPr>
          <a:xfrm>
            <a:off x="2796428" y="1788387"/>
            <a:ext cx="1334940" cy="6317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noProof="0" dirty="0"/>
              <a:t>Filtration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6DD7E3-E451-5DA4-5696-C3AB598F1167}"/>
              </a:ext>
            </a:extLst>
          </p:cNvPr>
          <p:cNvSpPr/>
          <p:nvPr/>
        </p:nvSpPr>
        <p:spPr>
          <a:xfrm>
            <a:off x="2796428" y="3157501"/>
            <a:ext cx="1334940" cy="6317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noProof="0" dirty="0"/>
              <a:t>Filtration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14F314-A600-C250-DAF5-809BEAE49FA7}"/>
              </a:ext>
            </a:extLst>
          </p:cNvPr>
          <p:cNvSpPr/>
          <p:nvPr/>
        </p:nvSpPr>
        <p:spPr>
          <a:xfrm>
            <a:off x="2796428" y="2472944"/>
            <a:ext cx="1334940" cy="6317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noProof="0" dirty="0"/>
              <a:t>Pools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2F159A-8ABD-477B-F987-2A83A410AF6E}"/>
              </a:ext>
            </a:extLst>
          </p:cNvPr>
          <p:cNvSpPr/>
          <p:nvPr/>
        </p:nvSpPr>
        <p:spPr>
          <a:xfrm>
            <a:off x="6953489" y="3157501"/>
            <a:ext cx="1334940" cy="6317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noProof="0" dirty="0"/>
              <a:t>Pools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3CB5B84-DC11-9602-984E-29689F21F18B}"/>
              </a:ext>
            </a:extLst>
          </p:cNvPr>
          <p:cNvSpPr/>
          <p:nvPr/>
        </p:nvSpPr>
        <p:spPr>
          <a:xfrm>
            <a:off x="5567802" y="3157501"/>
            <a:ext cx="1334940" cy="6317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noProof="0" dirty="0"/>
              <a:t>Filtration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6A5EB31-80D4-7926-CC33-68A183EB8E96}"/>
              </a:ext>
            </a:extLst>
          </p:cNvPr>
          <p:cNvSpPr/>
          <p:nvPr/>
        </p:nvSpPr>
        <p:spPr>
          <a:xfrm>
            <a:off x="8339177" y="3157501"/>
            <a:ext cx="1334940" cy="6317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noProof="0" dirty="0"/>
              <a:t>Silos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F1E120-A7E9-0EEA-6982-6C7640606846}"/>
              </a:ext>
            </a:extLst>
          </p:cNvPr>
          <p:cNvSpPr/>
          <p:nvPr/>
        </p:nvSpPr>
        <p:spPr>
          <a:xfrm>
            <a:off x="8107667" y="5088647"/>
            <a:ext cx="1334940" cy="6317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noProof="0" dirty="0"/>
              <a:t>Packaging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D5AFCC-789B-07F6-3C24-42B1524386DE}"/>
              </a:ext>
            </a:extLst>
          </p:cNvPr>
          <p:cNvSpPr/>
          <p:nvPr/>
        </p:nvSpPr>
        <p:spPr>
          <a:xfrm>
            <a:off x="8769694" y="4254172"/>
            <a:ext cx="1334940" cy="6317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noProof="0" dirty="0"/>
              <a:t>Pasteurization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D40BD68-0102-557F-9623-8997B730F5FF}"/>
              </a:ext>
            </a:extLst>
          </p:cNvPr>
          <p:cNvSpPr/>
          <p:nvPr/>
        </p:nvSpPr>
        <p:spPr>
          <a:xfrm>
            <a:off x="9995016" y="5828725"/>
            <a:ext cx="1334940" cy="6317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noProof="0" dirty="0"/>
              <a:t>Warehouse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FD25E51-CAF0-9AD1-18E2-766E88D94328}"/>
              </a:ext>
            </a:extLst>
          </p:cNvPr>
          <p:cNvSpPr/>
          <p:nvPr/>
        </p:nvSpPr>
        <p:spPr>
          <a:xfrm>
            <a:off x="7376681" y="4254172"/>
            <a:ext cx="1334940" cy="6317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noProof="0" dirty="0"/>
              <a:t>Carbonation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23C6593-0C7F-CF44-B251-A61487416E2F}"/>
              </a:ext>
            </a:extLst>
          </p:cNvPr>
          <p:cNvSpPr/>
          <p:nvPr/>
        </p:nvSpPr>
        <p:spPr>
          <a:xfrm>
            <a:off x="6231312" y="5100714"/>
            <a:ext cx="1334940" cy="6317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noProof="0" dirty="0"/>
              <a:t>Container</a:t>
            </a:r>
            <a:br>
              <a:rPr lang="en-US" sz="1600" noProof="0" dirty="0"/>
            </a:br>
            <a:r>
              <a:rPr lang="en-US" sz="1600" noProof="0" dirty="0"/>
              <a:t>Sanitization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5D82987-A471-4AFD-681F-EEA5ECF88954}"/>
              </a:ext>
            </a:extLst>
          </p:cNvPr>
          <p:cNvSpPr/>
          <p:nvPr/>
        </p:nvSpPr>
        <p:spPr>
          <a:xfrm>
            <a:off x="9603131" y="5083297"/>
            <a:ext cx="1334940" cy="6317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noProof="0" dirty="0"/>
              <a:t>Labeling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A8F77972-E2C4-DD41-2DCE-C13DC0B96364}"/>
              </a:ext>
            </a:extLst>
          </p:cNvPr>
          <p:cNvSpPr/>
          <p:nvPr/>
        </p:nvSpPr>
        <p:spPr>
          <a:xfrm rot="5400000">
            <a:off x="1197182" y="2723363"/>
            <a:ext cx="2391727" cy="521774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02CD92E3-CB46-A7DC-7A9B-26E1F113E3F5}"/>
              </a:ext>
            </a:extLst>
          </p:cNvPr>
          <p:cNvSpPr/>
          <p:nvPr/>
        </p:nvSpPr>
        <p:spPr>
          <a:xfrm rot="5400000">
            <a:off x="10678746" y="5138307"/>
            <a:ext cx="2065162" cy="521774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8326E549-97CD-18A0-8B8A-00AEFD74260F}"/>
              </a:ext>
            </a:extLst>
          </p:cNvPr>
          <p:cNvSpPr/>
          <p:nvPr/>
        </p:nvSpPr>
        <p:spPr>
          <a:xfrm>
            <a:off x="2796428" y="3769414"/>
            <a:ext cx="9041786" cy="521774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31" name="Picture 30" descr="A row of plastic bottles&#10;&#10;AI-generated content may be incorrect.">
            <a:extLst>
              <a:ext uri="{FF2B5EF4-FFF2-40B4-BE49-F238E27FC236}">
                <a16:creationId xmlns:a16="http://schemas.microsoft.com/office/drawing/2014/main" id="{F93261EA-0E97-48D1-AC00-7B46B81608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7261" y="5000224"/>
            <a:ext cx="2145495" cy="889487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C7CA6659-2D5E-DFD7-1651-E927198D2AD1}"/>
              </a:ext>
            </a:extLst>
          </p:cNvPr>
          <p:cNvSpPr/>
          <p:nvPr/>
        </p:nvSpPr>
        <p:spPr>
          <a:xfrm>
            <a:off x="5705295" y="4254172"/>
            <a:ext cx="1334940" cy="6317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noProof="0" dirty="0"/>
              <a:t>Carbon Dioxide Tank</a:t>
            </a:r>
          </a:p>
        </p:txBody>
      </p:sp>
      <p:pic>
        <p:nvPicPr>
          <p:cNvPr id="36" name="Picture 35" descr="Several large white cylindrical tanks&#10;&#10;AI-generated content may be incorrect.">
            <a:extLst>
              <a:ext uri="{FF2B5EF4-FFF2-40B4-BE49-F238E27FC236}">
                <a16:creationId xmlns:a16="http://schemas.microsoft.com/office/drawing/2014/main" id="{5B7FA86D-CE80-933D-7683-1D14784A48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0894" y="4254685"/>
            <a:ext cx="603707" cy="805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257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3A85D4F-3665-6854-38A5-F0F9643DE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err="1"/>
              <a:t>Notes</a:t>
            </a:r>
            <a:r>
              <a:rPr lang="tr-TR"/>
              <a:t> – </a:t>
            </a:r>
            <a:r>
              <a:rPr lang="tr-TR" err="1"/>
              <a:t>External</a:t>
            </a:r>
            <a:r>
              <a:rPr lang="tr-TR"/>
              <a:t> Data </a:t>
            </a:r>
            <a:r>
              <a:rPr lang="tr-TR" err="1"/>
              <a:t>Sources</a:t>
            </a:r>
            <a:endParaRPr lang="tr-TR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BC77C0A-C7E1-9D28-C862-C82ECCD37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71705-6995-4146-A744-5537C341FC93}" type="datetime1">
              <a:rPr lang="tr-TR" smtClean="0"/>
              <a:t>19.08.2025</a:t>
            </a:fld>
            <a:endParaRPr lang="tr-TR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DD10019-595F-180D-94F5-799FAF95E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All rights belong to ARDIC.</a:t>
            </a:r>
            <a:endParaRPr lang="tr-TR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A04CEB8-6B42-5D51-945E-16B966E76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74550-B831-45C5-B633-259031137E24}" type="slidenum">
              <a:rPr lang="tr-TR" smtClean="0"/>
              <a:t>10</a:t>
            </a:fld>
            <a:endParaRPr lang="tr-T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F6D5AE-DEFF-54A8-1219-671D606A66C7}"/>
              </a:ext>
            </a:extLst>
          </p:cNvPr>
          <p:cNvSpPr txBox="1"/>
          <p:nvPr/>
        </p:nvSpPr>
        <p:spPr>
          <a:xfrm>
            <a:off x="838199" y="1191178"/>
            <a:ext cx="973455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tr-TR" sz="1800" kern="100" err="1">
                <a:effectLst/>
                <a:latin typeface="Aptos" panose="02110004020202020204"/>
                <a:ea typeface="Aptos" panose="02110004020202020204"/>
                <a:cs typeface="Arial" panose="020B0604020202020204" pitchFamily="34" charset="0"/>
              </a:rPr>
              <a:t>Public</a:t>
            </a:r>
            <a:r>
              <a:rPr lang="tr-TR" sz="1800" kern="100">
                <a:effectLst/>
                <a:latin typeface="Aptos" panose="02110004020202020204"/>
                <a:ea typeface="Aptos" panose="02110004020202020204"/>
                <a:cs typeface="Arial" panose="020B0604020202020204" pitchFamily="34" charset="0"/>
              </a:rPr>
              <a:t>:</a:t>
            </a:r>
          </a:p>
          <a:p>
            <a:pPr>
              <a:buNone/>
            </a:pPr>
            <a:r>
              <a:rPr lang="tr-TR" sz="1800" u="sng" kern="100">
                <a:solidFill>
                  <a:srgbClr val="467886"/>
                </a:solidFill>
                <a:effectLst/>
                <a:latin typeface="Aptos" panose="02110004020202020204"/>
                <a:ea typeface="Aptos" panose="02110004020202020204"/>
                <a:cs typeface="Arial" panose="020B0604020202020204" pitchFamily="34" charset="0"/>
                <a:hlinkClick r:id="rId2"/>
              </a:rPr>
              <a:t>https://thingspeak.mathworks.com/channels/1293177</a:t>
            </a:r>
            <a:endParaRPr lang="tr-TR" sz="1800" kern="100">
              <a:effectLst/>
              <a:latin typeface="Aptos" panose="02110004020202020204"/>
              <a:ea typeface="Aptos" panose="02110004020202020204"/>
              <a:cs typeface="Arial" panose="020B0604020202020204" pitchFamily="34" charset="0"/>
            </a:endParaRPr>
          </a:p>
          <a:p>
            <a:pPr>
              <a:buNone/>
            </a:pPr>
            <a:r>
              <a:rPr lang="tr-TR" sz="1800" u="sng" kern="100">
                <a:solidFill>
                  <a:srgbClr val="467886"/>
                </a:solidFill>
                <a:effectLst/>
                <a:latin typeface="Aptos" panose="02110004020202020204"/>
                <a:ea typeface="Aptos" panose="02110004020202020204"/>
                <a:cs typeface="Arial" panose="020B0604020202020204" pitchFamily="34" charset="0"/>
                <a:hlinkClick r:id="rId3"/>
              </a:rPr>
              <a:t>https://thingspeak.mathworks.com/channels/2057381</a:t>
            </a:r>
            <a:endParaRPr lang="tr-TR" sz="1800" kern="100">
              <a:effectLst/>
              <a:latin typeface="Aptos" panose="02110004020202020204"/>
              <a:ea typeface="Aptos" panose="02110004020202020204"/>
              <a:cs typeface="Arial" panose="020B0604020202020204" pitchFamily="34" charset="0"/>
            </a:endParaRPr>
          </a:p>
          <a:p>
            <a:pPr>
              <a:buNone/>
            </a:pPr>
            <a:r>
              <a:rPr lang="tr-TR" sz="1800" u="sng" kern="100">
                <a:solidFill>
                  <a:srgbClr val="467886"/>
                </a:solidFill>
                <a:effectLst/>
                <a:latin typeface="Aptos" panose="02110004020202020204"/>
                <a:ea typeface="Aptos" panose="02110004020202020204"/>
                <a:cs typeface="Arial" panose="020B0604020202020204" pitchFamily="34" charset="0"/>
                <a:hlinkClick r:id="rId4"/>
              </a:rPr>
              <a:t>https://www.gridstatus.io/live</a:t>
            </a:r>
            <a:endParaRPr lang="tr-TR" sz="1800" kern="100">
              <a:effectLst/>
              <a:latin typeface="Aptos" panose="02110004020202020204"/>
              <a:ea typeface="Aptos" panose="02110004020202020204"/>
              <a:cs typeface="Arial" panose="020B0604020202020204" pitchFamily="34" charset="0"/>
            </a:endParaRPr>
          </a:p>
          <a:p>
            <a:pPr>
              <a:buNone/>
            </a:pPr>
            <a:r>
              <a:rPr lang="tr-TR" sz="1800" u="sng" kern="100">
                <a:solidFill>
                  <a:srgbClr val="467886"/>
                </a:solidFill>
                <a:effectLst/>
                <a:latin typeface="Aptos" panose="02110004020202020204"/>
                <a:ea typeface="Aptos" panose="02110004020202020204"/>
                <a:cs typeface="Arial" panose="020B0604020202020204" pitchFamily="34" charset="0"/>
                <a:hlinkClick r:id="rId5"/>
              </a:rPr>
              <a:t>https://data.cityofchicago.org/Parks-Recreation/Beach-Weather-Stations-Automated-Sensors-2016-Humi/7edu-s3u7</a:t>
            </a:r>
            <a:endParaRPr lang="tr-TR" sz="1800" kern="100">
              <a:effectLst/>
              <a:latin typeface="Aptos" panose="02110004020202020204"/>
              <a:ea typeface="Aptos" panose="02110004020202020204"/>
              <a:cs typeface="Arial" panose="020B0604020202020204" pitchFamily="34" charset="0"/>
            </a:endParaRPr>
          </a:p>
          <a:p>
            <a:pPr>
              <a:buNone/>
            </a:pPr>
            <a:r>
              <a:rPr lang="tr-TR" sz="1800" u="sng" kern="100">
                <a:solidFill>
                  <a:srgbClr val="467886"/>
                </a:solidFill>
                <a:effectLst/>
                <a:latin typeface="Aptos" panose="02110004020202020204"/>
                <a:ea typeface="Aptos" panose="02110004020202020204"/>
                <a:cs typeface="Arial" panose="020B0604020202020204" pitchFamily="34" charset="0"/>
                <a:hlinkClick r:id="rId6"/>
              </a:rPr>
              <a:t>https://opendata.cityofnewyork.us/</a:t>
            </a:r>
            <a:endParaRPr lang="tr-TR" sz="1800" kern="100">
              <a:effectLst/>
              <a:latin typeface="Aptos" panose="02110004020202020204"/>
              <a:ea typeface="Aptos" panose="02110004020202020204"/>
              <a:cs typeface="Arial" panose="020B0604020202020204" pitchFamily="34" charset="0"/>
            </a:endParaRPr>
          </a:p>
          <a:p>
            <a:pPr>
              <a:buNone/>
            </a:pPr>
            <a:r>
              <a:rPr lang="tr-TR" sz="1800" kern="100">
                <a:effectLst/>
                <a:latin typeface="Aptos" panose="02110004020202020204"/>
                <a:ea typeface="Aptos" panose="02110004020202020204"/>
                <a:cs typeface="Arial" panose="020B0604020202020204" pitchFamily="34" charset="0"/>
              </a:rPr>
              <a:t> </a:t>
            </a:r>
          </a:p>
          <a:p>
            <a:pPr>
              <a:buNone/>
            </a:pPr>
            <a:r>
              <a:rPr lang="tr-TR" sz="1800" kern="100">
                <a:effectLst/>
                <a:latin typeface="Aptos" panose="02110004020202020204"/>
                <a:ea typeface="Aptos" panose="02110004020202020204"/>
                <a:cs typeface="Arial" panose="020B0604020202020204" pitchFamily="34" charset="0"/>
              </a:rPr>
              <a:t> </a:t>
            </a:r>
          </a:p>
          <a:p>
            <a:pPr>
              <a:buNone/>
            </a:pPr>
            <a:r>
              <a:rPr lang="tr-TR" sz="1800" kern="100">
                <a:effectLst/>
                <a:latin typeface="Aptos" panose="02110004020202020204"/>
                <a:ea typeface="Aptos" panose="02110004020202020204"/>
                <a:cs typeface="Arial" panose="020B0604020202020204" pitchFamily="34" charset="0"/>
              </a:rPr>
              <a:t>AWS Data Market:</a:t>
            </a:r>
          </a:p>
          <a:p>
            <a:r>
              <a:rPr lang="tr-TR" sz="1800" u="sng" kern="100">
                <a:solidFill>
                  <a:srgbClr val="467886"/>
                </a:solidFill>
                <a:effectLst/>
                <a:latin typeface="Aptos" panose="02110004020202020204"/>
                <a:ea typeface="Aptos" panose="02110004020202020204"/>
                <a:cs typeface="Arial" panose="020B0604020202020204" pitchFamily="34" charset="0"/>
                <a:hlinkClick r:id="rId7"/>
              </a:rPr>
              <a:t>https://aws.amazon.com/marketplace/search/results?FULFILLMENT_OPTION_TYPE=DATA_EXCHANGE&amp;DATA_AVAILABLE_THROUGH=REDSHIFT_DATA_SHARES&amp;filters=FULFILLMENT_OPTION_TYPE%2CDATA_AVAILABLE_THROUGH</a:t>
            </a:r>
            <a:endParaRPr lang="tr-TR" sz="1800" kern="100">
              <a:effectLst/>
              <a:latin typeface="Aptos" panose="02110004020202020204"/>
              <a:ea typeface="Aptos" panose="02110004020202020204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0044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3AE08-DD9F-4CD8-A19E-62710884C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12197B-1975-8AE1-FAD7-AF909C0D6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B1642-7020-4CFE-B976-BDEBF540CA36}" type="datetime1">
              <a:rPr lang="tr-TR" smtClean="0"/>
              <a:t>19.08.2025</a:t>
            </a:fld>
            <a:endParaRPr lang="tr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27B105-28AE-B6EE-506A-D117A2AC7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All rights belong to ARDIC.</a:t>
            </a:r>
            <a:endParaRPr lang="tr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AA0CD5-C9AD-324A-A5EE-51E1C6F37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74550-B831-45C5-B633-259031137E24}" type="slidenum">
              <a:rPr lang="tr-TR" smtClean="0"/>
              <a:t>11</a:t>
            </a:fld>
            <a:endParaRPr lang="tr-TR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ADEB1F-D2DE-3971-EA7D-0179C735BC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16" y="1179443"/>
            <a:ext cx="2413311" cy="302812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03A9FAD-C042-5CC5-0E22-1AA96D99E4C6}"/>
              </a:ext>
            </a:extLst>
          </p:cNvPr>
          <p:cNvSpPr txBox="1"/>
          <p:nvPr/>
        </p:nvSpPr>
        <p:spPr>
          <a:xfrm>
            <a:off x="4141305" y="117944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/>
              <a:t>https://www.linkedin.com/pulse/simulating-iot-virtual-devices-node-red-backing-up-node-ajay-mahajan-vk0cf</a:t>
            </a:r>
          </a:p>
        </p:txBody>
      </p:sp>
    </p:spTree>
    <p:extLst>
      <p:ext uri="{BB962C8B-B14F-4D97-AF65-F5344CB8AC3E}">
        <p14:creationId xmlns:p14="http://schemas.microsoft.com/office/powerpoint/2010/main" val="212361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5C8BA15107BA194BA4AB6518DD02A081" ma:contentTypeVersion="4" ma:contentTypeDescription="Yeni belge oluşturun." ma:contentTypeScope="" ma:versionID="1018b96568c8404862d3d0126033c9a0">
  <xsd:schema xmlns:xsd="http://www.w3.org/2001/XMLSchema" xmlns:xs="http://www.w3.org/2001/XMLSchema" xmlns:p="http://schemas.microsoft.com/office/2006/metadata/properties" xmlns:ns2="0f40802e-83b7-4435-8abc-8dd7da1f52ff" targetNamespace="http://schemas.microsoft.com/office/2006/metadata/properties" ma:root="true" ma:fieldsID="6282e51c7129079f3068369be2c55d10" ns2:_="">
    <xsd:import namespace="0f40802e-83b7-4435-8abc-8dd7da1f52f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40802e-83b7-4435-8abc-8dd7da1f52f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0B7C30-3CF0-4F8A-91C8-133245BCD1CA}">
  <ds:schemaRefs>
    <ds:schemaRef ds:uri="http://schemas.microsoft.com/office/2006/documentManagement/types"/>
    <ds:schemaRef ds:uri="http://schemas.openxmlformats.org/package/2006/metadata/core-properties"/>
    <ds:schemaRef ds:uri="0f40802e-83b7-4435-8abc-8dd7da1f52ff"/>
    <ds:schemaRef ds:uri="http://www.w3.org/XML/1998/namespace"/>
    <ds:schemaRef ds:uri="http://purl.org/dc/dcmitype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C20C923C-A646-4E56-B0CB-EF3BA069231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758B19-8403-4AA0-A130-4BED5E78146B}">
  <ds:schemaRefs>
    <ds:schemaRef ds:uri="0f40802e-83b7-4435-8abc-8dd7da1f52f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0a28feee-0f73-4ca3-97b7-e973373f3044}" enabled="0" method="" siteId="{0a28feee-0f73-4ca3-97b7-e973373f304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</TotalTime>
  <Words>505</Words>
  <Application>Microsoft Macintosh PowerPoint</Application>
  <PresentationFormat>Widescreen</PresentationFormat>
  <Paragraphs>181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Virtual Factory</vt:lpstr>
      <vt:lpstr>Demo high level architecture</vt:lpstr>
      <vt:lpstr>Demo high level architecture</vt:lpstr>
      <vt:lpstr>Demo high level architecture</vt:lpstr>
      <vt:lpstr>Virtual Factory</vt:lpstr>
      <vt:lpstr>PowerPoint Presentation</vt:lpstr>
      <vt:lpstr>PowerPoint Presentation</vt:lpstr>
      <vt:lpstr>Instant Coffee Factory</vt:lpstr>
      <vt:lpstr>Drink Factory</vt:lpstr>
      <vt:lpstr>Notes – External Data Sources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 Factory</dc:title>
  <dc:creator>Haluk Tüfekçi</dc:creator>
  <cp:lastModifiedBy>Tunç Kahveci</cp:lastModifiedBy>
  <cp:revision>2</cp:revision>
  <dcterms:created xsi:type="dcterms:W3CDTF">2025-04-04T08:41:05Z</dcterms:created>
  <dcterms:modified xsi:type="dcterms:W3CDTF">2025-08-19T11:20:24Z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0x0101005C8BA15107BA194BA4AB6518DD02A081</vt:lpwstr>
  </property>
</Properties>
</file>